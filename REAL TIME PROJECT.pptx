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88" r:id="rId11"/>
    <p:sldId id="290" r:id="rId12"/>
    <p:sldId id="291" r:id="rId13"/>
    <p:sldId id="292" r:id="rId14"/>
    <p:sldId id="265" r:id="rId15"/>
    <p:sldId id="266" r:id="rId16"/>
    <p:sldId id="267" r:id="rId17"/>
    <p:sldId id="268" r:id="rId18"/>
    <p:sldId id="269" r:id="rId19"/>
    <p:sldId id="272" r:id="rId20"/>
    <p:sldId id="273" r:id="rId21"/>
    <p:sldId id="274" r:id="rId22"/>
    <p:sldId id="278" r:id="rId23"/>
    <p:sldId id="279" r:id="rId24"/>
    <p:sldId id="280" r:id="rId25"/>
    <p:sldId id="281" r:id="rId26"/>
    <p:sldId id="282" r:id="rId27"/>
    <p:sldId id="284" r:id="rId28"/>
    <p:sldId id="285" r:id="rId29"/>
    <p:sldId id="286" r:id="rId30"/>
    <p:sldId id="287" r:id="rId31"/>
    <p:sldId id="275" r:id="rId32"/>
    <p:sldId id="27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D250C2F-F867-4608-BBFC-8A86B5D098CF}">
          <p14:sldIdLst>
            <p14:sldId id="256"/>
          </p14:sldIdLst>
        </p14:section>
        <p14:section name="Untitled Section" id="{1D855571-6BDA-4A67-9F10-7DB77B03B510}">
          <p14:sldIdLst>
            <p14:sldId id="257"/>
            <p14:sldId id="258"/>
            <p14:sldId id="259"/>
            <p14:sldId id="260"/>
            <p14:sldId id="261"/>
            <p14:sldId id="262"/>
            <p14:sldId id="263"/>
            <p14:sldId id="264"/>
            <p14:sldId id="288"/>
            <p14:sldId id="290"/>
            <p14:sldId id="291"/>
            <p14:sldId id="292"/>
            <p14:sldId id="265"/>
            <p14:sldId id="266"/>
            <p14:sldId id="267"/>
            <p14:sldId id="268"/>
            <p14:sldId id="269"/>
            <p14:sldId id="272"/>
            <p14:sldId id="273"/>
            <p14:sldId id="274"/>
            <p14:sldId id="278"/>
            <p14:sldId id="279"/>
            <p14:sldId id="280"/>
            <p14:sldId id="281"/>
            <p14:sldId id="282"/>
            <p14:sldId id="284"/>
            <p14:sldId id="285"/>
            <p14:sldId id="286"/>
            <p14:sldId id="287"/>
            <p14:sldId id="275"/>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7" d="100"/>
          <a:sy n="57" d="100"/>
        </p:scale>
        <p:origin x="6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15F7682-7B5F-4C09-B9CB-896B5488DCBB}"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3019468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15F7682-7B5F-4C09-B9CB-896B5488DCBB}"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4260239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15F7682-7B5F-4C09-B9CB-896B5488DCBB}"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1668534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15F7682-7B5F-4C09-B9CB-896B5488DCBB}"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881821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15F7682-7B5F-4C09-B9CB-896B5488DCBB}" type="datetimeFigureOut">
              <a:rPr lang="en-IN" smtClean="0"/>
              <a:t>28-03-2026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2469033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15F7682-7B5F-4C09-B9CB-896B5488DCBB}" type="datetimeFigureOut">
              <a:rPr lang="en-IN" smtClean="0"/>
              <a:t>28-03-2026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1344636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5F7682-7B5F-4C09-B9CB-896B5488DCBB}" type="datetimeFigureOut">
              <a:rPr lang="en-IN" smtClean="0"/>
              <a:t>28-03-2026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6443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5F7682-7B5F-4C09-B9CB-896B5488DCBB}"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2345008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5F7682-7B5F-4C09-B9CB-896B5488DCBB}"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975977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15F7682-7B5F-4C09-B9CB-896B5488DCBB}"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232750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15F7682-7B5F-4C09-B9CB-896B5488DCBB}"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4F9552-2132-495D-8A0E-8A6A7E01F3A6}" type="slidenum">
              <a:rPr lang="en-IN" smtClean="0"/>
              <a:t>‹#›</a:t>
            </a:fld>
            <a:endParaRPr lang="en-IN"/>
          </a:p>
        </p:txBody>
      </p:sp>
    </p:spTree>
    <p:extLst>
      <p:ext uri="{BB962C8B-B14F-4D97-AF65-F5344CB8AC3E}">
        <p14:creationId xmlns:p14="http://schemas.microsoft.com/office/powerpoint/2010/main" val="2537243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5F7682-7B5F-4C09-B9CB-896B5488DCBB}" type="datetimeFigureOut">
              <a:rPr lang="en-IN" smtClean="0"/>
              <a:t>28-03-2026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4F9552-2132-495D-8A0E-8A6A7E01F3A6}" type="slidenum">
              <a:rPr lang="en-IN" smtClean="0"/>
              <a:t>‹#›</a:t>
            </a:fld>
            <a:endParaRPr lang="en-IN"/>
          </a:p>
        </p:txBody>
      </p:sp>
    </p:spTree>
    <p:extLst>
      <p:ext uri="{BB962C8B-B14F-4D97-AF65-F5344CB8AC3E}">
        <p14:creationId xmlns:p14="http://schemas.microsoft.com/office/powerpoint/2010/main" val="2769023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1636" y="-2086067"/>
            <a:ext cx="9834282" cy="5246126"/>
          </a:xfrm>
        </p:spPr>
        <p:txBody>
          <a:bodyPr>
            <a:normAutofit/>
          </a:bodyPr>
          <a:lstStyle/>
          <a:p>
            <a:r>
              <a:rPr lang="en-US" sz="7200" b="1" dirty="0" smtClean="0"/>
              <a:t> </a:t>
            </a:r>
            <a:r>
              <a:rPr lang="en-US" sz="7200" b="1" dirty="0" smtClean="0">
                <a:solidFill>
                  <a:srgbClr val="FF0000"/>
                </a:solidFill>
              </a:rPr>
              <a:t>REAL TIME PROJECT</a:t>
            </a:r>
            <a:endParaRPr lang="en-IN" sz="7200" b="1" dirty="0">
              <a:solidFill>
                <a:srgbClr val="FF0000"/>
              </a:solidFill>
            </a:endParaRPr>
          </a:p>
        </p:txBody>
      </p:sp>
      <p:sp>
        <p:nvSpPr>
          <p:cNvPr id="3" name="Subtitle 2"/>
          <p:cNvSpPr>
            <a:spLocks noGrp="1"/>
          </p:cNvSpPr>
          <p:nvPr>
            <p:ph type="subTitle" idx="1"/>
          </p:nvPr>
        </p:nvSpPr>
        <p:spPr>
          <a:xfrm>
            <a:off x="833718" y="3481015"/>
            <a:ext cx="10838328" cy="1655762"/>
          </a:xfrm>
        </p:spPr>
        <p:txBody>
          <a:bodyPr>
            <a:normAutofit/>
          </a:bodyPr>
          <a:lstStyle/>
          <a:p>
            <a:r>
              <a:rPr lang="en-IN" sz="4000" b="1" dirty="0" smtClean="0"/>
              <a:t>FOOD DELIVERY WEB APPLICATION PROJECT</a:t>
            </a:r>
            <a:endParaRPr lang="en-IN" sz="4000" dirty="0"/>
          </a:p>
        </p:txBody>
      </p:sp>
    </p:spTree>
    <p:extLst>
      <p:ext uri="{BB962C8B-B14F-4D97-AF65-F5344CB8AC3E}">
        <p14:creationId xmlns:p14="http://schemas.microsoft.com/office/powerpoint/2010/main" val="25968351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TILTEL</a:t>
            </a:r>
            <a:r>
              <a:rPr lang="en-IN" b="1" dirty="0" smtClean="0">
                <a:latin typeface="Times New Roman" panose="02020603050405020304" pitchFamily="18" charset="0"/>
                <a:cs typeface="Times New Roman" panose="02020603050405020304" pitchFamily="18" charset="0"/>
              </a:rPr>
              <a:t>: </a:t>
            </a:r>
            <a:r>
              <a:rPr lang="en-IN" sz="4000" b="1" dirty="0" smtClean="0">
                <a:latin typeface="Times New Roman" panose="02020603050405020304" pitchFamily="18" charset="0"/>
                <a:cs typeface="Times New Roman" panose="02020603050405020304" pitchFamily="18" charset="0"/>
              </a:rPr>
              <a:t>ONLINE FOOD DELIVERY SYSTEM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9175" y="2235200"/>
            <a:ext cx="10515600" cy="4622800"/>
          </a:xfrm>
        </p:spPr>
        <p:txBody>
          <a:bodyPr>
            <a:normAutofit/>
          </a:bodyPr>
          <a:lstStyle/>
          <a:p>
            <a:pPr lvl="0"/>
            <a:r>
              <a:rPr lang="en-IN" sz="1800" b="1" dirty="0" smtClean="0">
                <a:latin typeface="Times New Roman" panose="02020603050405020304" pitchFamily="18" charset="0"/>
                <a:cs typeface="Times New Roman" panose="02020603050405020304" pitchFamily="18" charset="0"/>
              </a:rPr>
              <a:t>Student </a:t>
            </a:r>
            <a:r>
              <a:rPr lang="en-IN" sz="1800" b="1" dirty="0">
                <a:latin typeface="Times New Roman" panose="02020603050405020304" pitchFamily="18" charset="0"/>
                <a:cs typeface="Times New Roman" panose="02020603050405020304" pitchFamily="18" charset="0"/>
              </a:rPr>
              <a:t>Name :</a:t>
            </a: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KETHAVATH SHILPA,</a:t>
            </a:r>
            <a:r>
              <a:rPr lang="en-IN" sz="1800" b="1" dirty="0" smtClean="0">
                <a:latin typeface="Times New Roman" panose="02020603050405020304" pitchFamily="18" charset="0"/>
                <a:cs typeface="Times New Roman" panose="02020603050405020304" pitchFamily="18" charset="0"/>
              </a:rPr>
              <a:t>  E.</a:t>
            </a:r>
            <a:r>
              <a:rPr lang="en-IN" sz="1800" dirty="0" smtClean="0">
                <a:latin typeface="Times New Roman" panose="02020603050405020304" pitchFamily="18" charset="0"/>
                <a:cs typeface="Times New Roman" panose="02020603050405020304" pitchFamily="18" charset="0"/>
              </a:rPr>
              <a:t>SINDHU</a:t>
            </a:r>
          </a:p>
          <a:p>
            <a:pPr lvl="0"/>
            <a:r>
              <a:rPr lang="en-IN" sz="1800" b="1" dirty="0" smtClean="0">
                <a:latin typeface="Times New Roman" panose="02020603050405020304" pitchFamily="18" charset="0"/>
                <a:cs typeface="Times New Roman" panose="02020603050405020304" pitchFamily="18" charset="0"/>
              </a:rPr>
              <a:t>Roll Number:</a:t>
            </a:r>
            <a:r>
              <a:rPr lang="en-IN" sz="1800" dirty="0" smtClean="0">
                <a:latin typeface="Times New Roman" panose="02020603050405020304" pitchFamily="18" charset="0"/>
                <a:cs typeface="Times New Roman" panose="02020603050405020304" pitchFamily="18" charset="0"/>
              </a:rPr>
              <a:t>  24WJ1A1253,24WJ1A1238</a:t>
            </a:r>
            <a:endParaRPr lang="en-IN" sz="1800" dirty="0">
              <a:latin typeface="Times New Roman" panose="02020603050405020304" pitchFamily="18" charset="0"/>
              <a:cs typeface="Times New Roman" panose="02020603050405020304" pitchFamily="18" charset="0"/>
            </a:endParaRPr>
          </a:p>
          <a:p>
            <a:pPr lvl="0"/>
            <a:r>
              <a:rPr lang="en-IN" sz="1800" b="1" dirty="0">
                <a:latin typeface="Times New Roman" panose="02020603050405020304" pitchFamily="18" charset="0"/>
                <a:cs typeface="Times New Roman" panose="02020603050405020304" pitchFamily="18" charset="0"/>
              </a:rPr>
              <a:t>Guide:</a:t>
            </a:r>
            <a:r>
              <a:rPr lang="en-IN" sz="1800" dirty="0">
                <a:latin typeface="Times New Roman" panose="02020603050405020304" pitchFamily="18" charset="0"/>
                <a:cs typeface="Times New Roman" panose="02020603050405020304" pitchFamily="18" charset="0"/>
              </a:rPr>
              <a:t> (Faculty Name) </a:t>
            </a:r>
          </a:p>
          <a:p>
            <a:pPr lvl="0"/>
            <a:r>
              <a:rPr lang="en-IN" sz="1800" b="1" dirty="0">
                <a:latin typeface="Times New Roman" panose="02020603050405020304" pitchFamily="18" charset="0"/>
                <a:cs typeface="Times New Roman" panose="02020603050405020304" pitchFamily="18" charset="0"/>
              </a:rPr>
              <a:t>Department:</a:t>
            </a:r>
            <a:r>
              <a:rPr lang="en-IN" sz="1800" dirty="0">
                <a:latin typeface="Times New Roman" panose="02020603050405020304" pitchFamily="18" charset="0"/>
                <a:cs typeface="Times New Roman" panose="02020603050405020304" pitchFamily="18" charset="0"/>
              </a:rPr>
              <a:t> IT  </a:t>
            </a:r>
          </a:p>
          <a:p>
            <a:pPr lvl="0"/>
            <a:r>
              <a:rPr lang="en-IN" sz="1800" b="1" dirty="0">
                <a:latin typeface="Times New Roman" panose="02020603050405020304" pitchFamily="18" charset="0"/>
                <a:cs typeface="Times New Roman" panose="02020603050405020304" pitchFamily="18" charset="0"/>
              </a:rPr>
              <a:t>Date:</a:t>
            </a:r>
            <a:r>
              <a:rPr lang="en-IN" sz="1800" dirty="0">
                <a:latin typeface="Times New Roman" panose="02020603050405020304" pitchFamily="18" charset="0"/>
                <a:cs typeface="Times New Roman" panose="02020603050405020304" pitchFamily="18" charset="0"/>
              </a:rPr>
              <a:t> (28/March/2026) </a:t>
            </a:r>
            <a:endParaRPr lang="en-IN" sz="1800" dirty="0" smtClean="0">
              <a:latin typeface="Times New Roman" panose="02020603050405020304" pitchFamily="18" charset="0"/>
              <a:cs typeface="Times New Roman" panose="02020603050405020304" pitchFamily="18" charset="0"/>
            </a:endParaRPr>
          </a:p>
          <a:p>
            <a:pPr lvl="0"/>
            <a:endParaRPr lang="en-IN" sz="1800" dirty="0">
              <a:latin typeface="Times New Roman" panose="02020603050405020304" pitchFamily="18" charset="0"/>
              <a:cs typeface="Times New Roman" panose="02020603050405020304" pitchFamily="18" charset="0"/>
            </a:endParaRPr>
          </a:p>
          <a:p>
            <a:pPr lvl="0"/>
            <a:endParaRPr lang="en-IN" sz="1800" dirty="0" smtClean="0">
              <a:latin typeface="Times New Roman" panose="02020603050405020304" pitchFamily="18" charset="0"/>
              <a:cs typeface="Times New Roman" panose="02020603050405020304" pitchFamily="18" charset="0"/>
            </a:endParaRPr>
          </a:p>
          <a:p>
            <a:pPr lvl="0"/>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4887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373" y="-4763"/>
            <a:ext cx="10548427" cy="1325563"/>
          </a:xfrm>
        </p:spPr>
        <p:txBody>
          <a:bodyPr>
            <a:normAutofit/>
          </a:bodyPr>
          <a:lstStyle/>
          <a:p>
            <a:r>
              <a:rPr lang="en-IN" sz="2400" b="1" dirty="0" smtClean="0">
                <a:latin typeface="Times New Roman" panose="02020603050405020304" pitchFamily="18" charset="0"/>
                <a:cs typeface="Times New Roman" panose="02020603050405020304" pitchFamily="18" charset="0"/>
              </a:rPr>
              <a:t>INTRODUCTION</a:t>
            </a: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05373" y="1320800"/>
            <a:ext cx="10515600" cy="4351338"/>
          </a:xfrm>
        </p:spPr>
        <p:txBody>
          <a:bodyPr>
            <a:normAutofit/>
          </a:bodyPr>
          <a:lstStyle/>
          <a:p>
            <a:r>
              <a:rPr lang="en-US" sz="1900" dirty="0" smtClean="0">
                <a:latin typeface="Times New Roman" panose="02020603050405020304" pitchFamily="18" charset="0"/>
                <a:cs typeface="Times New Roman" panose="02020603050405020304" pitchFamily="18" charset="0"/>
              </a:rPr>
              <a:t>The </a:t>
            </a:r>
            <a:r>
              <a:rPr lang="en-US" sz="1900" b="1" dirty="0" smtClean="0">
                <a:latin typeface="Times New Roman" panose="02020603050405020304" pitchFamily="18" charset="0"/>
                <a:cs typeface="Times New Roman" panose="02020603050405020304" pitchFamily="18" charset="0"/>
              </a:rPr>
              <a:t>Food Delivery Web Application</a:t>
            </a:r>
            <a:r>
              <a:rPr lang="en-US" sz="1900" dirty="0" smtClean="0">
                <a:latin typeface="Times New Roman" panose="02020603050405020304" pitchFamily="18" charset="0"/>
                <a:cs typeface="Times New Roman" panose="02020603050405020304" pitchFamily="18" charset="0"/>
              </a:rPr>
              <a:t> is an online platform that allows users to order food from restaurants easily using a website. In today’s digital world, people prefer quick and convenient services, and this system helps in saving time by avoiding traditional phone-based or in-person ordering.</a:t>
            </a:r>
          </a:p>
          <a:p>
            <a:r>
              <a:rPr lang="en-US" sz="1900" dirty="0" smtClean="0">
                <a:latin typeface="Times New Roman" panose="02020603050405020304" pitchFamily="18" charset="0"/>
                <a:cs typeface="Times New Roman" panose="02020603050405020304" pitchFamily="18" charset="0"/>
              </a:rPr>
              <a:t>In conclusion, the Food Delivery Web Application represents a practical implementation of web development concepts and demonstrates how technology can be used to solve real-world problems. It not only benefits customers by providing convenience but also helps businesses expand their reach and improve service quality.</a:t>
            </a:r>
          </a:p>
          <a:p>
            <a:r>
              <a:rPr lang="en-IN" sz="1900" dirty="0" smtClean="0">
                <a:latin typeface="Times New Roman" panose="02020603050405020304" pitchFamily="18" charset="0"/>
                <a:cs typeface="Times New Roman" panose="02020603050405020304" pitchFamily="18" charset="0"/>
              </a:rPr>
              <a:t>Food delivery apps are widely used today </a:t>
            </a:r>
          </a:p>
          <a:p>
            <a:pPr lvl="0"/>
            <a:r>
              <a:rPr lang="en-IN" sz="1900" dirty="0" smtClean="0">
                <a:latin typeface="Times New Roman" panose="02020603050405020304" pitchFamily="18" charset="0"/>
                <a:cs typeface="Times New Roman" panose="02020603050405020304" pitchFamily="18" charset="0"/>
              </a:rPr>
              <a:t>Helps users order food online easily </a:t>
            </a:r>
          </a:p>
          <a:p>
            <a:pPr lvl="0"/>
            <a:r>
              <a:rPr lang="en-IN" sz="1900" dirty="0" smtClean="0">
                <a:latin typeface="Times New Roman" panose="02020603050405020304" pitchFamily="18" charset="0"/>
                <a:cs typeface="Times New Roman" panose="02020603050405020304" pitchFamily="18" charset="0"/>
              </a:rPr>
              <a:t>Reduces time and effort </a:t>
            </a:r>
          </a:p>
          <a:p>
            <a:pPr lvl="0"/>
            <a:r>
              <a:rPr lang="en-IN" sz="1900" dirty="0" smtClean="0">
                <a:latin typeface="Times New Roman" panose="02020603050405020304" pitchFamily="18" charset="0"/>
                <a:cs typeface="Times New Roman" panose="02020603050405020304" pitchFamily="18" charset="0"/>
              </a:rPr>
              <a:t>Digital transformation in restaurant services</a:t>
            </a:r>
          </a:p>
          <a:p>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5377373" y="3234652"/>
            <a:ext cx="242374" cy="369332"/>
          </a:xfrm>
          <a:prstGeom prst="rect">
            <a:avLst/>
          </a:prstGeom>
        </p:spPr>
        <p:txBody>
          <a:bodyPr wrap="none">
            <a:spAutoFit/>
          </a:bodyPr>
          <a:lstStyle/>
          <a:p>
            <a:pPr lvl="0"/>
            <a:r>
              <a:rPr lang="en-IN" b="1" dirty="0" smtClean="0">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44180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68300"/>
            <a:ext cx="10515600" cy="1325563"/>
          </a:xfrm>
        </p:spPr>
        <p:txBody>
          <a:bodyPr>
            <a:normAutofit/>
          </a:bodyPr>
          <a:lstStyle/>
          <a:p>
            <a:r>
              <a:rPr lang="en-IN" sz="2400" b="1" dirty="0" smtClean="0">
                <a:latin typeface="Times New Roman" panose="02020603050405020304" pitchFamily="18" charset="0"/>
                <a:cs typeface="Times New Roman" panose="02020603050405020304" pitchFamily="18" charset="0"/>
              </a:rPr>
              <a:t>PROBLEM STATEMENT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538163"/>
            <a:ext cx="10515600" cy="4010025"/>
          </a:xfrm>
        </p:spPr>
        <p:txBody>
          <a:bodyPr>
            <a:noAutofit/>
          </a:bodyPr>
          <a:lstStyle/>
          <a:p>
            <a:pPr lvl="0"/>
            <a:r>
              <a:rPr lang="en-IN" sz="1800" dirty="0">
                <a:latin typeface="Times New Roman" panose="02020603050405020304" pitchFamily="18" charset="0"/>
                <a:cs typeface="Times New Roman" panose="02020603050405020304" pitchFamily="18" charset="0"/>
              </a:rPr>
              <a:t>Traditional food ordering is time-consuming </a:t>
            </a:r>
          </a:p>
          <a:p>
            <a:pPr lvl="0"/>
            <a:r>
              <a:rPr lang="en-IN" sz="1800" dirty="0">
                <a:latin typeface="Times New Roman" panose="02020603050405020304" pitchFamily="18" charset="0"/>
                <a:cs typeface="Times New Roman" panose="02020603050405020304" pitchFamily="18" charset="0"/>
              </a:rPr>
              <a:t>Lack of real-time tracking </a:t>
            </a:r>
          </a:p>
          <a:p>
            <a:pPr lvl="0"/>
            <a:r>
              <a:rPr lang="en-IN" sz="1800" dirty="0">
                <a:latin typeface="Times New Roman" panose="02020603050405020304" pitchFamily="18" charset="0"/>
                <a:cs typeface="Times New Roman" panose="02020603050405020304" pitchFamily="18" charset="0"/>
              </a:rPr>
              <a:t>Manual errors in order handling </a:t>
            </a:r>
          </a:p>
          <a:p>
            <a:pPr lvl="0"/>
            <a:r>
              <a:rPr lang="en-IN" sz="1800" dirty="0">
                <a:latin typeface="Times New Roman" panose="02020603050405020304" pitchFamily="18" charset="0"/>
                <a:cs typeface="Times New Roman" panose="02020603050405020304" pitchFamily="18" charset="0"/>
              </a:rPr>
              <a:t>Limited restaurant </a:t>
            </a:r>
            <a:r>
              <a:rPr lang="en-IN" sz="1800" dirty="0" smtClean="0">
                <a:latin typeface="Times New Roman" panose="02020603050405020304" pitchFamily="18" charset="0"/>
                <a:cs typeface="Times New Roman" panose="02020603050405020304" pitchFamily="18" charset="0"/>
              </a:rPr>
              <a:t>reach</a:t>
            </a:r>
          </a:p>
          <a:p>
            <a:r>
              <a:rPr lang="en-US" sz="1800" dirty="0" smtClean="0"/>
              <a:t>In today’s fast-paced world, people often find it difficult to spend time visiting restaurants or preparing food at home due to busy schedules. Traditional methods of food ordering, such as visiting restaurants physically or placing orders through phone calls, are inefficient and time-consuming. These methods also lack accuracy and transparency, as there is a high possibility of miscommunication between customers and restaurant staff.</a:t>
            </a:r>
          </a:p>
          <a:p>
            <a:pPr marL="0" lvl="0" indent="0">
              <a:buNone/>
            </a:pPr>
            <a:r>
              <a:rPr lang="en-IN" sz="1800" dirty="0" smtClean="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val="659380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9574" y="69851"/>
            <a:ext cx="10429875" cy="596900"/>
          </a:xfrm>
        </p:spPr>
        <p:txBody>
          <a:bodyPr>
            <a:normAutofit/>
          </a:bodyPr>
          <a:lstStyle/>
          <a:p>
            <a:r>
              <a:rPr lang="en-IN" sz="2400" b="1" dirty="0" smtClean="0">
                <a:latin typeface="Times New Roman" panose="02020603050405020304" pitchFamily="18" charset="0"/>
                <a:cs typeface="Times New Roman" panose="02020603050405020304" pitchFamily="18" charset="0"/>
              </a:rPr>
              <a:t>OBJECTIVES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4824" y="781051"/>
            <a:ext cx="10515600" cy="5762624"/>
          </a:xfrm>
        </p:spPr>
        <p:txBody>
          <a:bodyPr>
            <a:normAutofit/>
          </a:bodyPr>
          <a:lstStyle/>
          <a:p>
            <a:r>
              <a:rPr lang="en-US" sz="1800" dirty="0" smtClean="0"/>
              <a:t>The main objective of this project is to develop a </a:t>
            </a:r>
            <a:r>
              <a:rPr lang="en-US" sz="1800" b="1" dirty="0" smtClean="0"/>
              <a:t>user-friendly and efficient web-based food delivery system</a:t>
            </a:r>
            <a:r>
              <a:rPr lang="en-US" sz="1800" dirty="0" smtClean="0"/>
              <a:t> that allows customers to order food online easily and enables restaurants to manage orders effectively.</a:t>
            </a:r>
            <a:endParaRPr lang="en-IN" sz="1800" dirty="0" smtClean="0">
              <a:latin typeface="Times New Roman" panose="02020603050405020304" pitchFamily="18" charset="0"/>
              <a:cs typeface="Times New Roman" panose="02020603050405020304" pitchFamily="18" charset="0"/>
            </a:endParaRPr>
          </a:p>
          <a:p>
            <a:pPr lvl="0"/>
            <a:r>
              <a:rPr lang="en-IN" sz="1800" dirty="0" smtClean="0">
                <a:latin typeface="Times New Roman" panose="02020603050405020304" pitchFamily="18" charset="0"/>
                <a:cs typeface="Times New Roman" panose="02020603050405020304" pitchFamily="18" charset="0"/>
              </a:rPr>
              <a:t>Develop </a:t>
            </a:r>
            <a:r>
              <a:rPr lang="en-IN" sz="1800" dirty="0">
                <a:latin typeface="Times New Roman" panose="02020603050405020304" pitchFamily="18" charset="0"/>
                <a:cs typeface="Times New Roman" panose="02020603050405020304" pitchFamily="18" charset="0"/>
              </a:rPr>
              <a:t>a user-friendly web app </a:t>
            </a:r>
          </a:p>
          <a:p>
            <a:pPr lvl="0"/>
            <a:r>
              <a:rPr lang="en-IN" sz="1800" dirty="0">
                <a:latin typeface="Times New Roman" panose="02020603050405020304" pitchFamily="18" charset="0"/>
                <a:cs typeface="Times New Roman" panose="02020603050405020304" pitchFamily="18" charset="0"/>
              </a:rPr>
              <a:t>Provide real-time food ordering </a:t>
            </a:r>
          </a:p>
          <a:p>
            <a:pPr lvl="0"/>
            <a:r>
              <a:rPr lang="en-IN" sz="1800" dirty="0">
                <a:latin typeface="Times New Roman" panose="02020603050405020304" pitchFamily="18" charset="0"/>
                <a:cs typeface="Times New Roman" panose="02020603050405020304" pitchFamily="18" charset="0"/>
              </a:rPr>
              <a:t>Enable online payments </a:t>
            </a:r>
          </a:p>
          <a:p>
            <a:r>
              <a:rPr lang="en-IN" sz="1800" dirty="0">
                <a:latin typeface="Times New Roman" panose="02020603050405020304" pitchFamily="18" charset="0"/>
                <a:cs typeface="Times New Roman" panose="02020603050405020304" pitchFamily="18" charset="0"/>
              </a:rPr>
              <a:t>Improve customer </a:t>
            </a:r>
            <a:r>
              <a:rPr lang="en-IN" sz="1800" dirty="0" smtClean="0">
                <a:latin typeface="Times New Roman" panose="02020603050405020304" pitchFamily="18" charset="0"/>
                <a:cs typeface="Times New Roman" panose="02020603050405020304" pitchFamily="18" charset="0"/>
              </a:rPr>
              <a:t>experience</a:t>
            </a:r>
          </a:p>
          <a:p>
            <a:r>
              <a:rPr lang="en-US" sz="1800" b="1" dirty="0" smtClean="0"/>
              <a:t>To provide easy online food ordering</a:t>
            </a:r>
            <a:r>
              <a:rPr lang="en-US" sz="1800" dirty="0" smtClean="0"/>
              <a:t/>
            </a:r>
            <a:br>
              <a:rPr lang="en-US" sz="1800" dirty="0" smtClean="0"/>
            </a:br>
            <a:r>
              <a:rPr lang="en-US" sz="1800" dirty="0" smtClean="0"/>
              <a:t>Allow users to browse menus and order food from anywhere.</a:t>
            </a:r>
            <a:r>
              <a:rPr lang="en-IN" sz="1800" dirty="0" smtClean="0">
                <a:latin typeface="Times New Roman" panose="02020603050405020304" pitchFamily="18" charset="0"/>
                <a:cs typeface="Times New Roman" panose="02020603050405020304" pitchFamily="18" charset="0"/>
              </a:rPr>
              <a:t> </a:t>
            </a:r>
          </a:p>
          <a:p>
            <a:r>
              <a:rPr lang="en-US" sz="1800" dirty="0" smtClean="0"/>
              <a:t>The main objective of this project is to develop a </a:t>
            </a:r>
            <a:r>
              <a:rPr lang="en-US" sz="1800" b="1" dirty="0" smtClean="0"/>
              <a:t>user-friendly and efficient web-based food delivery system</a:t>
            </a:r>
            <a:r>
              <a:rPr lang="en-US" sz="1800" dirty="0" smtClean="0"/>
              <a:t> that allows customers to order food online easily and enables restaurants to manage orders effectively.</a:t>
            </a:r>
          </a:p>
          <a:p>
            <a:pPr marL="0" indent="0">
              <a:buNone/>
            </a:pPr>
            <a:endParaRPr lang="en-US" sz="1800" dirty="0" smtClean="0"/>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911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4168"/>
            <a:ext cx="10515600" cy="1325563"/>
          </a:xfrm>
        </p:spPr>
        <p:txBody>
          <a:bodyPr>
            <a:normAutofit/>
          </a:bodyPr>
          <a:lstStyle/>
          <a:p>
            <a:r>
              <a:rPr lang="en-IN" sz="2400" b="1" dirty="0" smtClean="0">
                <a:latin typeface="Times New Roman" panose="02020603050405020304" pitchFamily="18" charset="0"/>
                <a:cs typeface="Times New Roman" panose="02020603050405020304" pitchFamily="18" charset="0"/>
              </a:rPr>
              <a:t>EXISTING SYSTEM</a:t>
            </a:r>
            <a:r>
              <a:rPr lang="en-IN" sz="2400" b="1" dirty="0" smtClean="0"/>
              <a:t/>
            </a:r>
            <a:br>
              <a:rPr lang="en-IN" sz="2400" b="1" dirty="0" smtClean="0"/>
            </a:br>
            <a:endParaRPr lang="en-IN" sz="2400" dirty="0"/>
          </a:p>
        </p:txBody>
      </p:sp>
      <p:sp>
        <p:nvSpPr>
          <p:cNvPr id="3" name="Content Placeholder 2"/>
          <p:cNvSpPr>
            <a:spLocks noGrp="1"/>
          </p:cNvSpPr>
          <p:nvPr>
            <p:ph idx="1"/>
          </p:nvPr>
        </p:nvSpPr>
        <p:spPr>
          <a:xfrm>
            <a:off x="838200" y="1200150"/>
            <a:ext cx="10515600" cy="4424363"/>
          </a:xfrm>
          <a:ln>
            <a:solidFill>
              <a:schemeClr val="bg1"/>
            </a:solidFill>
          </a:ln>
        </p:spPr>
        <p:txBody>
          <a:bodyPr>
            <a:normAutofit/>
          </a:bodyPr>
          <a:lstStyle/>
          <a:p>
            <a:pPr lvl="0"/>
            <a:r>
              <a:rPr lang="en-IN" sz="1800" dirty="0">
                <a:latin typeface="Times New Roman" panose="02020603050405020304" pitchFamily="18" charset="0"/>
                <a:cs typeface="Times New Roman" panose="02020603050405020304" pitchFamily="18" charset="0"/>
              </a:rPr>
              <a:t>Phone-based ordering </a:t>
            </a:r>
          </a:p>
          <a:p>
            <a:pPr lvl="0"/>
            <a:r>
              <a:rPr lang="en-IN" sz="1800" dirty="0">
                <a:latin typeface="Times New Roman" panose="02020603050405020304" pitchFamily="18" charset="0"/>
                <a:cs typeface="Times New Roman" panose="02020603050405020304" pitchFamily="18" charset="0"/>
              </a:rPr>
              <a:t>Limited menu visibility </a:t>
            </a:r>
          </a:p>
          <a:p>
            <a:pPr lvl="0"/>
            <a:r>
              <a:rPr lang="en-IN" sz="1800" dirty="0">
                <a:latin typeface="Times New Roman" panose="02020603050405020304" pitchFamily="18" charset="0"/>
                <a:cs typeface="Times New Roman" panose="02020603050405020304" pitchFamily="18" charset="0"/>
              </a:rPr>
              <a:t>No tracking system </a:t>
            </a:r>
            <a:endParaRPr lang="en-IN" sz="1800" dirty="0" smtClean="0">
              <a:latin typeface="Times New Roman" panose="02020603050405020304" pitchFamily="18" charset="0"/>
              <a:cs typeface="Times New Roman" panose="02020603050405020304" pitchFamily="18" charset="0"/>
            </a:endParaRPr>
          </a:p>
          <a:p>
            <a:pPr lvl="0"/>
            <a:endParaRPr lang="en-IN" sz="1800" dirty="0">
              <a:latin typeface="Times New Roman" panose="02020603050405020304" pitchFamily="18" charset="0"/>
              <a:cs typeface="Times New Roman" panose="02020603050405020304" pitchFamily="18" charset="0"/>
            </a:endParaRPr>
          </a:p>
          <a:p>
            <a:pPr lvl="0"/>
            <a:endParaRPr lang="en-IN" sz="1800" dirty="0">
              <a:latin typeface="Times New Roman" panose="02020603050405020304" pitchFamily="18" charset="0"/>
              <a:cs typeface="Times New Roman" panose="02020603050405020304" pitchFamily="18" charset="0"/>
            </a:endParaRPr>
          </a:p>
          <a:p>
            <a:pPr marL="0" lvl="0" indent="0">
              <a:buNone/>
            </a:pPr>
            <a:r>
              <a:rPr lang="en-IN" u="sng" dirty="0" smtClean="0">
                <a:solidFill>
                  <a:schemeClr val="tx1">
                    <a:lumMod val="95000"/>
                    <a:lumOff val="5000"/>
                  </a:schemeClr>
                </a:solidFill>
              </a:rPr>
              <a:t>Limitations</a:t>
            </a:r>
            <a:endParaRPr lang="en-IN" b="1" u="sng" dirty="0">
              <a:solidFill>
                <a:schemeClr val="tx1">
                  <a:lumMod val="95000"/>
                  <a:lumOff val="5000"/>
                </a:schemeClr>
              </a:solidFill>
            </a:endParaRPr>
          </a:p>
          <a:p>
            <a:pPr lvl="0"/>
            <a:r>
              <a:rPr lang="en-IN" sz="1800" dirty="0"/>
              <a:t>Slow process </a:t>
            </a:r>
          </a:p>
          <a:p>
            <a:pPr lvl="0"/>
            <a:r>
              <a:rPr lang="en-IN" sz="1800" dirty="0"/>
              <a:t>Human errors </a:t>
            </a:r>
          </a:p>
          <a:p>
            <a:pPr lvl="0"/>
            <a:r>
              <a:rPr lang="en-IN" sz="1800" dirty="0"/>
              <a:t>No automation </a:t>
            </a:r>
          </a:p>
          <a:p>
            <a:pPr lvl="0"/>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659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1512"/>
            <a:ext cx="10515600" cy="1802747"/>
          </a:xfrm>
        </p:spPr>
        <p:txBody>
          <a:bodyPr>
            <a:normAutofit/>
          </a:bodyPr>
          <a:lstStyle/>
          <a:p>
            <a:r>
              <a:rPr lang="en-IN" sz="2400" b="1" dirty="0" smtClean="0">
                <a:solidFill>
                  <a:schemeClr val="tx1">
                    <a:lumMod val="95000"/>
                    <a:lumOff val="5000"/>
                  </a:schemeClr>
                </a:solidFill>
                <a:latin typeface="Times New Roman" panose="02020603050405020304" pitchFamily="18" charset="0"/>
                <a:cs typeface="Times New Roman" panose="02020603050405020304" pitchFamily="18" charset="0"/>
              </a:rPr>
              <a:t>PROPOSED SYSTEM</a:t>
            </a:r>
            <a:endParaRPr lang="en-IN" sz="24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997075"/>
            <a:ext cx="10515600" cy="4351338"/>
          </a:xfrm>
        </p:spPr>
        <p:txBody>
          <a:bodyPr>
            <a:normAutofit/>
          </a:bodyPr>
          <a:lstStyle/>
          <a:p>
            <a:pPr lvl="0"/>
            <a:r>
              <a:rPr lang="en-IN" sz="1800" dirty="0"/>
              <a:t>Online platform for ordering food </a:t>
            </a:r>
          </a:p>
          <a:p>
            <a:pPr lvl="0"/>
            <a:r>
              <a:rPr lang="en-IN" sz="1800" dirty="0"/>
              <a:t>Live order tracking </a:t>
            </a:r>
          </a:p>
          <a:p>
            <a:pPr lvl="0"/>
            <a:r>
              <a:rPr lang="en-IN" sz="1800" dirty="0"/>
              <a:t>Digital payment integration </a:t>
            </a:r>
          </a:p>
          <a:p>
            <a:pPr lvl="0"/>
            <a:r>
              <a:rPr lang="en-IN" sz="1800" dirty="0"/>
              <a:t>Admin dashboard </a:t>
            </a:r>
          </a:p>
        </p:txBody>
      </p:sp>
    </p:spTree>
    <p:extLst>
      <p:ext uri="{BB962C8B-B14F-4D97-AF65-F5344CB8AC3E}">
        <p14:creationId xmlns:p14="http://schemas.microsoft.com/office/powerpoint/2010/main" val="2593897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50" y="403225"/>
            <a:ext cx="10610850" cy="1325563"/>
          </a:xfrm>
        </p:spPr>
        <p:txBody>
          <a:bodyPr>
            <a:normAutofit/>
          </a:bodyPr>
          <a:lstStyle/>
          <a:p>
            <a:r>
              <a:rPr lang="en-IN" sz="2400" b="1" dirty="0" smtClean="0">
                <a:latin typeface="Times New Roman" panose="02020603050405020304" pitchFamily="18" charset="0"/>
                <a:cs typeface="Times New Roman" panose="02020603050405020304" pitchFamily="18" charset="0"/>
              </a:rPr>
              <a:t>METHODOLOGY</a:t>
            </a: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2950" y="1454150"/>
            <a:ext cx="10515600" cy="4351338"/>
          </a:xfrm>
        </p:spPr>
        <p:txBody>
          <a:bodyPr>
            <a:normAutofit/>
          </a:bodyPr>
          <a:lstStyle/>
          <a:p>
            <a:pPr lvl="0"/>
            <a:r>
              <a:rPr lang="en-IN" sz="1800" dirty="0">
                <a:latin typeface="Times New Roman" panose="02020603050405020304" pitchFamily="18" charset="0"/>
                <a:cs typeface="Times New Roman" panose="02020603050405020304" pitchFamily="18" charset="0"/>
              </a:rPr>
              <a:t>Requirement analysis </a:t>
            </a:r>
          </a:p>
          <a:p>
            <a:pPr lvl="0"/>
            <a:r>
              <a:rPr lang="en-IN" sz="1800" dirty="0">
                <a:latin typeface="Times New Roman" panose="02020603050405020304" pitchFamily="18" charset="0"/>
                <a:cs typeface="Times New Roman" panose="02020603050405020304" pitchFamily="18" charset="0"/>
              </a:rPr>
              <a:t>Design (UI/UX) </a:t>
            </a:r>
          </a:p>
          <a:p>
            <a:pPr lvl="0"/>
            <a:r>
              <a:rPr lang="en-IN" sz="1800" dirty="0">
                <a:latin typeface="Times New Roman" panose="02020603050405020304" pitchFamily="18" charset="0"/>
                <a:cs typeface="Times New Roman" panose="02020603050405020304" pitchFamily="18" charset="0"/>
              </a:rPr>
              <a:t>Development </a:t>
            </a:r>
          </a:p>
          <a:p>
            <a:pPr lvl="0"/>
            <a:r>
              <a:rPr lang="en-IN" sz="1800" dirty="0">
                <a:latin typeface="Times New Roman" panose="02020603050405020304" pitchFamily="18" charset="0"/>
                <a:cs typeface="Times New Roman" panose="02020603050405020304" pitchFamily="18" charset="0"/>
              </a:rPr>
              <a:t>Testing </a:t>
            </a:r>
          </a:p>
          <a:p>
            <a:pPr lvl="0"/>
            <a:r>
              <a:rPr lang="en-IN" sz="1800" dirty="0">
                <a:latin typeface="Times New Roman" panose="02020603050405020304" pitchFamily="18" charset="0"/>
                <a:cs typeface="Times New Roman" panose="02020603050405020304" pitchFamily="18" charset="0"/>
              </a:rPr>
              <a:t>Deployment </a:t>
            </a:r>
          </a:p>
        </p:txBody>
      </p:sp>
    </p:spTree>
    <p:extLst>
      <p:ext uri="{BB962C8B-B14F-4D97-AF65-F5344CB8AC3E}">
        <p14:creationId xmlns:p14="http://schemas.microsoft.com/office/powerpoint/2010/main" val="3919964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1825"/>
            <a:ext cx="10515600" cy="1325563"/>
          </a:xfrm>
        </p:spPr>
        <p:txBody>
          <a:bodyPr>
            <a:normAutofit/>
          </a:bodyPr>
          <a:lstStyle/>
          <a:p>
            <a:r>
              <a:rPr lang="en-IN" sz="2400" b="1" dirty="0" smtClean="0">
                <a:latin typeface="Times New Roman" panose="02020603050405020304" pitchFamily="18" charset="0"/>
                <a:cs typeface="Times New Roman" panose="02020603050405020304" pitchFamily="18" charset="0"/>
              </a:rPr>
              <a:t>SYSTEM ARCHITECTURE</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2275"/>
            <a:ext cx="10515600" cy="4351338"/>
          </a:xfrm>
        </p:spPr>
        <p:txBody>
          <a:bodyPr>
            <a:normAutofit/>
          </a:bodyPr>
          <a:lstStyle/>
          <a:p>
            <a:pPr lvl="0"/>
            <a:r>
              <a:rPr lang="en-IN" sz="1800" dirty="0">
                <a:latin typeface="Times New Roman" panose="02020603050405020304" pitchFamily="18" charset="0"/>
                <a:cs typeface="Times New Roman" panose="02020603050405020304" pitchFamily="18" charset="0"/>
              </a:rPr>
              <a:t>Frontend (User Interface) </a:t>
            </a:r>
          </a:p>
          <a:p>
            <a:pPr lvl="0"/>
            <a:r>
              <a:rPr lang="en-IN" sz="1800" dirty="0">
                <a:latin typeface="Times New Roman" panose="02020603050405020304" pitchFamily="18" charset="0"/>
                <a:cs typeface="Times New Roman" panose="02020603050405020304" pitchFamily="18" charset="0"/>
              </a:rPr>
              <a:t>Backend (Server) </a:t>
            </a:r>
          </a:p>
          <a:p>
            <a:pPr lvl="0"/>
            <a:r>
              <a:rPr lang="en-IN" sz="1800" dirty="0">
                <a:latin typeface="Times New Roman" panose="02020603050405020304" pitchFamily="18" charset="0"/>
                <a:cs typeface="Times New Roman" panose="02020603050405020304" pitchFamily="18" charset="0"/>
              </a:rPr>
              <a:t>Database (Storage) </a:t>
            </a:r>
          </a:p>
        </p:txBody>
      </p:sp>
      <p:pic>
        <p:nvPicPr>
          <p:cNvPr id="4" name="Picture 3"/>
          <p:cNvPicPr>
            <a:picLocks noChangeAspect="1"/>
          </p:cNvPicPr>
          <p:nvPr/>
        </p:nvPicPr>
        <p:blipFill>
          <a:blip r:embed="rId2"/>
          <a:stretch>
            <a:fillRect/>
          </a:stretch>
        </p:blipFill>
        <p:spPr>
          <a:xfrm>
            <a:off x="4945082" y="1516165"/>
            <a:ext cx="6873836" cy="4968671"/>
          </a:xfrm>
          <a:prstGeom prst="rect">
            <a:avLst/>
          </a:prstGeom>
        </p:spPr>
      </p:pic>
    </p:spTree>
    <p:extLst>
      <p:ext uri="{BB962C8B-B14F-4D97-AF65-F5344CB8AC3E}">
        <p14:creationId xmlns:p14="http://schemas.microsoft.com/office/powerpoint/2010/main" val="3504549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6436" y="158190"/>
            <a:ext cx="6358257" cy="4351338"/>
          </a:xfrm>
          <a:prstGeom prst="rect">
            <a:avLst/>
          </a:prstGeom>
        </p:spPr>
      </p:pic>
      <p:pic>
        <p:nvPicPr>
          <p:cNvPr id="5" name="Picture 4"/>
          <p:cNvPicPr>
            <a:picLocks noChangeAspect="1"/>
          </p:cNvPicPr>
          <p:nvPr/>
        </p:nvPicPr>
        <p:blipFill>
          <a:blip r:embed="rId3"/>
          <a:stretch>
            <a:fillRect/>
          </a:stretch>
        </p:blipFill>
        <p:spPr>
          <a:xfrm>
            <a:off x="6616406" y="230755"/>
            <a:ext cx="5270795" cy="4278773"/>
          </a:xfrm>
          <a:prstGeom prst="rect">
            <a:avLst/>
          </a:prstGeom>
        </p:spPr>
      </p:pic>
      <p:pic>
        <p:nvPicPr>
          <p:cNvPr id="6" name="Picture 5"/>
          <p:cNvPicPr>
            <a:picLocks noChangeAspect="1"/>
          </p:cNvPicPr>
          <p:nvPr/>
        </p:nvPicPr>
        <p:blipFill>
          <a:blip r:embed="rId4"/>
          <a:stretch>
            <a:fillRect/>
          </a:stretch>
        </p:blipFill>
        <p:spPr>
          <a:xfrm>
            <a:off x="1325121" y="3795622"/>
            <a:ext cx="7154646" cy="2734221"/>
          </a:xfrm>
          <a:prstGeom prst="rect">
            <a:avLst/>
          </a:prstGeom>
        </p:spPr>
      </p:pic>
    </p:spTree>
    <p:extLst>
      <p:ext uri="{BB962C8B-B14F-4D97-AF65-F5344CB8AC3E}">
        <p14:creationId xmlns:p14="http://schemas.microsoft.com/office/powerpoint/2010/main" val="1596884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7460" y="133677"/>
            <a:ext cx="10515600" cy="5368551"/>
          </a:xfrm>
        </p:spPr>
        <p:txBody>
          <a:bodyPr>
            <a:normAutofit/>
          </a:bodyPr>
          <a:lstStyle/>
          <a:p>
            <a:pPr marL="0" indent="0">
              <a:buNone/>
            </a:pPr>
            <a:endParaRPr lang="en-IN" dirty="0"/>
          </a:p>
        </p:txBody>
      </p:sp>
      <p:pic>
        <p:nvPicPr>
          <p:cNvPr id="1026" name="Picture 2" descr="The Client-Server Model Explained: From Basics To Implemen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2752" y="585086"/>
            <a:ext cx="6589058" cy="329452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67460" y="1109793"/>
            <a:ext cx="6096000" cy="3693319"/>
          </a:xfrm>
          <a:prstGeom prst="rect">
            <a:avLst/>
          </a:prstGeom>
        </p:spPr>
        <p:txBody>
          <a:bodyPr>
            <a:spAutoFit/>
          </a:bodyPr>
          <a:lstStyle/>
          <a:p>
            <a:r>
              <a:rPr lang="en-IN" b="1" dirty="0">
                <a:latin typeface="Times New Roman" panose="02020603050405020304" pitchFamily="18" charset="0"/>
                <a:cs typeface="Times New Roman" panose="02020603050405020304" pitchFamily="18" charset="0"/>
              </a:rPr>
              <a:t>Explanation</a:t>
            </a:r>
          </a:p>
          <a:p>
            <a:r>
              <a:rPr lang="en-IN" b="1" dirty="0">
                <a:latin typeface="Times New Roman" panose="02020603050405020304" pitchFamily="18" charset="0"/>
                <a:cs typeface="Times New Roman" panose="02020603050405020304" pitchFamily="18" charset="0"/>
              </a:rPr>
              <a:t>Frontend (Client Side)</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HTML, CSS, JavaScript </a:t>
            </a:r>
          </a:p>
          <a:p>
            <a:pPr lvl="1"/>
            <a:r>
              <a:rPr lang="en-IN" dirty="0">
                <a:latin typeface="Times New Roman" panose="02020603050405020304" pitchFamily="18" charset="0"/>
                <a:cs typeface="Times New Roman" panose="02020603050405020304" pitchFamily="18" charset="0"/>
              </a:rPr>
              <a:t>User Interface (UI) </a:t>
            </a:r>
          </a:p>
          <a:p>
            <a:r>
              <a:rPr lang="en-IN" b="1" dirty="0">
                <a:latin typeface="Times New Roman" panose="02020603050405020304" pitchFamily="18" charset="0"/>
                <a:cs typeface="Times New Roman" panose="02020603050405020304" pitchFamily="18" charset="0"/>
              </a:rPr>
              <a:t>Backend (Server Side)</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Node.js / PHP </a:t>
            </a:r>
          </a:p>
          <a:p>
            <a:pPr lvl="1"/>
            <a:r>
              <a:rPr lang="en-IN" dirty="0">
                <a:latin typeface="Times New Roman" panose="02020603050405020304" pitchFamily="18" charset="0"/>
                <a:cs typeface="Times New Roman" panose="02020603050405020304" pitchFamily="18" charset="0"/>
              </a:rPr>
              <a:t>Handles requests &amp; logic </a:t>
            </a:r>
          </a:p>
          <a:p>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MySQL / </a:t>
            </a:r>
            <a:r>
              <a:rPr lang="en-IN" dirty="0" err="1">
                <a:latin typeface="Times New Roman" panose="02020603050405020304" pitchFamily="18" charset="0"/>
                <a:cs typeface="Times New Roman" panose="02020603050405020304" pitchFamily="18" charset="0"/>
              </a:rPr>
              <a:t>MongoDB</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Stores users &amp; orders </a:t>
            </a:r>
          </a:p>
          <a:p>
            <a:r>
              <a:rPr lang="en-IN"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Flow:</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User → Frontend → Backend → Database → Response → User</a:t>
            </a:r>
          </a:p>
        </p:txBody>
      </p:sp>
    </p:spTree>
    <p:extLst>
      <p:ext uri="{BB962C8B-B14F-4D97-AF65-F5344CB8AC3E}">
        <p14:creationId xmlns:p14="http://schemas.microsoft.com/office/powerpoint/2010/main" val="1636561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t>DATA FLOW DIAGRAM (DFD - LEVEL 0)</a:t>
            </a:r>
            <a:endParaRPr lang="en-IN" sz="2400" b="1" dirty="0"/>
          </a:p>
        </p:txBody>
      </p:sp>
      <p:pic>
        <p:nvPicPr>
          <p:cNvPr id="2050" name="Picture 2" descr="Unleashing the Power of SQL in the World of Food Delivery | by Afnanurrahim Ansari | Medium"/>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8218" y="1447061"/>
            <a:ext cx="7361971" cy="35543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920318" y="2366682"/>
            <a:ext cx="6179967" cy="1477328"/>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DFD Explanation</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User → System</a:t>
            </a:r>
            <a:r>
              <a:rPr lang="en-IN" dirty="0">
                <a:latin typeface="Times New Roman" panose="02020603050405020304" pitchFamily="18" charset="0"/>
                <a:cs typeface="Times New Roman" panose="02020603050405020304" pitchFamily="18" charset="0"/>
              </a:rPr>
              <a:t> (login, order) </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System → Database</a:t>
            </a:r>
            <a:r>
              <a:rPr lang="en-IN" dirty="0">
                <a:latin typeface="Times New Roman" panose="02020603050405020304" pitchFamily="18" charset="0"/>
                <a:cs typeface="Times New Roman" panose="02020603050405020304" pitchFamily="18" charset="0"/>
              </a:rPr>
              <a:t> (store data) </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Admin → System</a:t>
            </a:r>
            <a:r>
              <a:rPr lang="en-IN" dirty="0">
                <a:latin typeface="Times New Roman" panose="02020603050405020304" pitchFamily="18" charset="0"/>
                <a:cs typeface="Times New Roman" panose="02020603050405020304" pitchFamily="18" charset="0"/>
              </a:rPr>
              <a:t> (manage orders) </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System → User</a:t>
            </a:r>
            <a:r>
              <a:rPr lang="en-IN" dirty="0">
                <a:latin typeface="Times New Roman" panose="02020603050405020304" pitchFamily="18" charset="0"/>
                <a:cs typeface="Times New Roman" panose="02020603050405020304" pitchFamily="18" charset="0"/>
              </a:rPr>
              <a:t> (order </a:t>
            </a:r>
            <a:r>
              <a:rPr lang="en-IN" dirty="0" err="1">
                <a:latin typeface="Times New Roman" panose="02020603050405020304" pitchFamily="18" charset="0"/>
                <a:cs typeface="Times New Roman" panose="02020603050405020304" pitchFamily="18" charset="0"/>
              </a:rPr>
              <a:t>confirmat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454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6871" y="-121023"/>
            <a:ext cx="10515600" cy="7140388"/>
          </a:xfrm>
        </p:spPr>
        <p:txBody>
          <a:bodyPr/>
          <a:lstStyle/>
          <a:p>
            <a:pPr marL="0" indent="0">
              <a:buNone/>
            </a:pPr>
            <a:r>
              <a:rPr lang="en-IN" dirty="0" smtClean="0"/>
              <a:t>Flowchart (food ordering process)</a:t>
            </a:r>
            <a:endParaRPr lang="en-IN" dirty="0"/>
          </a:p>
        </p:txBody>
      </p:sp>
      <p:sp>
        <p:nvSpPr>
          <p:cNvPr id="5" name="Rectangle 4"/>
          <p:cNvSpPr/>
          <p:nvPr/>
        </p:nvSpPr>
        <p:spPr>
          <a:xfrm>
            <a:off x="484094" y="197346"/>
            <a:ext cx="8659906" cy="6463308"/>
          </a:xfrm>
          <a:prstGeom prst="rect">
            <a:avLst/>
          </a:prstGeom>
        </p:spPr>
        <p:txBody>
          <a:bodyPr wrap="square">
            <a:spAutoFit/>
          </a:bodyPr>
          <a:lstStyle/>
          <a:p>
            <a:r>
              <a:rPr lang="en-IN" dirty="0"/>
              <a:t>Start</a:t>
            </a:r>
          </a:p>
          <a:p>
            <a:r>
              <a:rPr lang="en-IN" dirty="0"/>
              <a:t>  ↓</a:t>
            </a:r>
          </a:p>
          <a:p>
            <a:r>
              <a:rPr lang="en-IN" dirty="0"/>
              <a:t>User Opens Website</a:t>
            </a:r>
          </a:p>
          <a:p>
            <a:r>
              <a:rPr lang="en-IN" dirty="0"/>
              <a:t>  ↓</a:t>
            </a:r>
          </a:p>
          <a:p>
            <a:r>
              <a:rPr lang="en-IN" dirty="0"/>
              <a:t>Register / Login</a:t>
            </a:r>
          </a:p>
          <a:p>
            <a:r>
              <a:rPr lang="en-IN" dirty="0"/>
              <a:t>  ↓</a:t>
            </a:r>
          </a:p>
          <a:p>
            <a:r>
              <a:rPr lang="en-IN" dirty="0"/>
              <a:t>Browse Food Menu</a:t>
            </a:r>
          </a:p>
          <a:p>
            <a:r>
              <a:rPr lang="en-IN" dirty="0"/>
              <a:t>  ↓</a:t>
            </a:r>
          </a:p>
          <a:p>
            <a:r>
              <a:rPr lang="en-IN" dirty="0"/>
              <a:t>Select Food Items</a:t>
            </a:r>
          </a:p>
          <a:p>
            <a:r>
              <a:rPr lang="en-IN" dirty="0"/>
              <a:t>  ↓</a:t>
            </a:r>
          </a:p>
          <a:p>
            <a:r>
              <a:rPr lang="en-IN" dirty="0"/>
              <a:t>Add to Cart</a:t>
            </a:r>
          </a:p>
          <a:p>
            <a:r>
              <a:rPr lang="en-IN" dirty="0"/>
              <a:t>  ↓</a:t>
            </a:r>
          </a:p>
          <a:p>
            <a:r>
              <a:rPr lang="en-IN" dirty="0"/>
              <a:t>Checkout</a:t>
            </a:r>
          </a:p>
          <a:p>
            <a:r>
              <a:rPr lang="en-IN" dirty="0"/>
              <a:t>  ↓</a:t>
            </a:r>
          </a:p>
          <a:p>
            <a:r>
              <a:rPr lang="en-IN" dirty="0"/>
              <a:t>Place Order</a:t>
            </a:r>
          </a:p>
          <a:p>
            <a:r>
              <a:rPr lang="en-IN" dirty="0"/>
              <a:t>  ↓</a:t>
            </a:r>
          </a:p>
          <a:p>
            <a:r>
              <a:rPr lang="en-IN" dirty="0"/>
              <a:t>Order Stored in Database</a:t>
            </a:r>
          </a:p>
          <a:p>
            <a:r>
              <a:rPr lang="en-IN" dirty="0"/>
              <a:t>  ↓</a:t>
            </a:r>
          </a:p>
          <a:p>
            <a:r>
              <a:rPr lang="en-IN" dirty="0"/>
              <a:t>Admin Processes Order</a:t>
            </a:r>
          </a:p>
          <a:p>
            <a:r>
              <a:rPr lang="en-IN" dirty="0"/>
              <a:t>  ↓</a:t>
            </a:r>
          </a:p>
          <a:p>
            <a:r>
              <a:rPr lang="en-IN" dirty="0"/>
              <a:t>Food Delivered</a:t>
            </a:r>
          </a:p>
          <a:p>
            <a:r>
              <a:rPr lang="en-IN" dirty="0"/>
              <a:t>  ↓</a:t>
            </a:r>
          </a:p>
          <a:p>
            <a:r>
              <a:rPr lang="en-IN" dirty="0"/>
              <a:t>End</a:t>
            </a:r>
          </a:p>
        </p:txBody>
      </p:sp>
      <p:pic>
        <p:nvPicPr>
          <p:cNvPr id="3074" name="Picture 2" descr="system flow chart for food ordering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483079"/>
            <a:ext cx="5313872" cy="6280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96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IN" b="1" dirty="0"/>
              <a:t> </a:t>
            </a:r>
            <a:r>
              <a:rPr lang="en-IN" sz="2400" b="1" dirty="0" smtClean="0">
                <a:latin typeface="Times New Roman" panose="02020603050405020304" pitchFamily="18" charset="0"/>
                <a:cs typeface="Times New Roman" panose="02020603050405020304" pitchFamily="18" charset="0"/>
              </a:rPr>
              <a:t>TOOLS &amp; TECHNOLOGIES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92250"/>
            <a:ext cx="10515600" cy="4351338"/>
          </a:xfrm>
        </p:spPr>
        <p:txBody>
          <a:bodyPr/>
          <a:lstStyle/>
          <a:p>
            <a:pPr lvl="0"/>
            <a:r>
              <a:rPr lang="en-IN" sz="1800" dirty="0">
                <a:latin typeface="Times New Roman" panose="02020603050405020304" pitchFamily="18" charset="0"/>
                <a:cs typeface="Times New Roman" panose="02020603050405020304" pitchFamily="18" charset="0"/>
              </a:rPr>
              <a:t>HTML, CSS, JavaScript </a:t>
            </a:r>
          </a:p>
          <a:p>
            <a:pPr lvl="0"/>
            <a:r>
              <a:rPr lang="en-IN" sz="1800" dirty="0">
                <a:latin typeface="Times New Roman" panose="02020603050405020304" pitchFamily="18" charset="0"/>
                <a:cs typeface="Times New Roman" panose="02020603050405020304" pitchFamily="18" charset="0"/>
              </a:rPr>
              <a:t>React.js / Angular (Frontend) </a:t>
            </a:r>
          </a:p>
          <a:p>
            <a:pPr lvl="0"/>
            <a:r>
              <a:rPr lang="en-IN" sz="1800" dirty="0">
                <a:latin typeface="Times New Roman" panose="02020603050405020304" pitchFamily="18" charset="0"/>
                <a:cs typeface="Times New Roman" panose="02020603050405020304" pitchFamily="18" charset="0"/>
              </a:rPr>
              <a:t>Node.js / PHP (Backend) </a:t>
            </a:r>
          </a:p>
          <a:p>
            <a:pPr lvl="0"/>
            <a:r>
              <a:rPr lang="en-IN" sz="1800" dirty="0">
                <a:latin typeface="Times New Roman" panose="02020603050405020304" pitchFamily="18" charset="0"/>
                <a:cs typeface="Times New Roman" panose="02020603050405020304" pitchFamily="18" charset="0"/>
              </a:rPr>
              <a:t>MySQL / </a:t>
            </a:r>
            <a:r>
              <a:rPr lang="en-IN" sz="1800" dirty="0" err="1">
                <a:latin typeface="Times New Roman" panose="02020603050405020304" pitchFamily="18" charset="0"/>
                <a:cs typeface="Times New Roman" panose="02020603050405020304" pitchFamily="18" charset="0"/>
              </a:rPr>
              <a:t>MongoDB</a:t>
            </a: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Database)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652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smtClean="0">
                <a:latin typeface="Times New Roman" panose="02020603050405020304" pitchFamily="18" charset="0"/>
                <a:cs typeface="Times New Roman" panose="02020603050405020304" pitchFamily="18" charset="0"/>
              </a:rPr>
              <a:t>WORK PLAN / TIMELINE</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04875" y="1416050"/>
            <a:ext cx="10515600" cy="4351338"/>
          </a:xfrm>
        </p:spPr>
        <p:txBody>
          <a:bodyPr>
            <a:normAutofit/>
          </a:bodyPr>
          <a:lstStyle/>
          <a:p>
            <a:pPr lvl="0"/>
            <a:r>
              <a:rPr lang="en-IN" sz="1800" dirty="0">
                <a:latin typeface="Times New Roman" panose="02020603050405020304" pitchFamily="18" charset="0"/>
                <a:cs typeface="Times New Roman" panose="02020603050405020304" pitchFamily="18" charset="0"/>
              </a:rPr>
              <a:t>Week 1–2: Planning </a:t>
            </a:r>
          </a:p>
          <a:p>
            <a:pPr lvl="0"/>
            <a:r>
              <a:rPr lang="en-IN" sz="1800" dirty="0">
                <a:latin typeface="Times New Roman" panose="02020603050405020304" pitchFamily="18" charset="0"/>
                <a:cs typeface="Times New Roman" panose="02020603050405020304" pitchFamily="18" charset="0"/>
              </a:rPr>
              <a:t>Week 3–5: Development </a:t>
            </a:r>
          </a:p>
          <a:p>
            <a:pPr lvl="0"/>
            <a:r>
              <a:rPr lang="en-IN" sz="1800" dirty="0">
                <a:latin typeface="Times New Roman" panose="02020603050405020304" pitchFamily="18" charset="0"/>
                <a:cs typeface="Times New Roman" panose="02020603050405020304" pitchFamily="18" charset="0"/>
              </a:rPr>
              <a:t>Week 6: Testing </a:t>
            </a:r>
          </a:p>
          <a:p>
            <a:pPr lvl="0"/>
            <a:r>
              <a:rPr lang="en-IN" sz="1800" dirty="0">
                <a:latin typeface="Times New Roman" panose="02020603050405020304" pitchFamily="18" charset="0"/>
                <a:cs typeface="Times New Roman" panose="02020603050405020304" pitchFamily="18" charset="0"/>
              </a:rPr>
              <a:t>Week 7: </a:t>
            </a:r>
            <a:r>
              <a:rPr lang="en-IN" sz="1800" dirty="0" smtClean="0">
                <a:latin typeface="Times New Roman" panose="02020603050405020304" pitchFamily="18" charset="0"/>
                <a:cs typeface="Times New Roman" panose="02020603050405020304" pitchFamily="18" charset="0"/>
              </a:rPr>
              <a:t>Deployment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2040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smtClean="0">
                <a:latin typeface="Times New Roman" panose="02020603050405020304" pitchFamily="18" charset="0"/>
                <a:cs typeface="Times New Roman" panose="02020603050405020304" pitchFamily="18" charset="0"/>
              </a:rPr>
              <a:t>EXPECTED OUTCOMES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63675"/>
            <a:ext cx="10515600" cy="4351338"/>
          </a:xfrm>
        </p:spPr>
        <p:txBody>
          <a:bodyPr>
            <a:normAutofit/>
          </a:bodyPr>
          <a:lstStyle/>
          <a:p>
            <a:r>
              <a:rPr lang="en-US" sz="1800" dirty="0" smtClean="0"/>
              <a:t>Fast food ordering system </a:t>
            </a:r>
          </a:p>
          <a:p>
            <a:r>
              <a:rPr lang="en-US" sz="1800" dirty="0" smtClean="0"/>
              <a:t>Improved customer satisfaction </a:t>
            </a:r>
          </a:p>
          <a:p>
            <a:r>
              <a:rPr lang="en-US" sz="1800" dirty="0" smtClean="0"/>
              <a:t>Reduced manual work </a:t>
            </a:r>
            <a:endParaRPr lang="en-US" sz="1800" dirty="0"/>
          </a:p>
        </p:txBody>
      </p:sp>
    </p:spTree>
    <p:extLst>
      <p:ext uri="{BB962C8B-B14F-4D97-AF65-F5344CB8AC3E}">
        <p14:creationId xmlns:p14="http://schemas.microsoft.com/office/powerpoint/2010/main" val="888159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327025"/>
            <a:ext cx="10458450" cy="1325563"/>
          </a:xfrm>
        </p:spPr>
        <p:txBody>
          <a:bodyPr>
            <a:normAutofit/>
          </a:bodyPr>
          <a:lstStyle/>
          <a:p>
            <a:r>
              <a:rPr lang="en-IN" sz="2400" b="1" dirty="0" smtClean="0"/>
              <a:t>CURRENT PROGRESS</a:t>
            </a:r>
            <a:endParaRPr lang="en-IN" sz="2400" b="1" dirty="0"/>
          </a:p>
        </p:txBody>
      </p:sp>
      <p:sp>
        <p:nvSpPr>
          <p:cNvPr id="3" name="Content Placeholder 2"/>
          <p:cNvSpPr>
            <a:spLocks noGrp="1"/>
          </p:cNvSpPr>
          <p:nvPr>
            <p:ph idx="1"/>
          </p:nvPr>
        </p:nvSpPr>
        <p:spPr>
          <a:xfrm>
            <a:off x="838200" y="1397000"/>
            <a:ext cx="10515600" cy="4351338"/>
          </a:xfrm>
        </p:spPr>
        <p:txBody>
          <a:bodyPr>
            <a:normAutofit/>
          </a:bodyPr>
          <a:lstStyle/>
          <a:p>
            <a:r>
              <a:rPr lang="en-US" sz="1800" dirty="0" smtClean="0"/>
              <a:t>UI designed </a:t>
            </a:r>
          </a:p>
          <a:p>
            <a:r>
              <a:rPr lang="en-US" sz="1800" dirty="0" smtClean="0"/>
              <a:t>Login system completed </a:t>
            </a:r>
          </a:p>
          <a:p>
            <a:r>
              <a:rPr lang="en-US" sz="1800" dirty="0" smtClean="0"/>
              <a:t>Basic database created </a:t>
            </a:r>
            <a:endParaRPr lang="en-US" sz="1800" dirty="0"/>
          </a:p>
        </p:txBody>
      </p:sp>
    </p:spTree>
    <p:extLst>
      <p:ext uri="{BB962C8B-B14F-4D97-AF65-F5344CB8AC3E}">
        <p14:creationId xmlns:p14="http://schemas.microsoft.com/office/powerpoint/2010/main" val="1233240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1325563"/>
          </a:xfrm>
        </p:spPr>
        <p:txBody>
          <a:bodyPr>
            <a:normAutofit/>
          </a:bodyPr>
          <a:lstStyle/>
          <a:p>
            <a:r>
              <a:rPr lang="en-IN" sz="2400" b="1" dirty="0" smtClean="0">
                <a:latin typeface="Times New Roman" panose="02020603050405020304" pitchFamily="18" charset="0"/>
                <a:cs typeface="Times New Roman" panose="02020603050405020304" pitchFamily="18" charset="0"/>
              </a:rPr>
              <a:t>CHALLENGES</a:t>
            </a:r>
            <a:endParaRPr lang="en-IN" sz="2400"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1090522"/>
            <a:ext cx="285526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Payment integration issues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Server handling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Security concerns </a:t>
            </a:r>
          </a:p>
        </p:txBody>
      </p:sp>
    </p:spTree>
    <p:extLst>
      <p:ext uri="{BB962C8B-B14F-4D97-AF65-F5344CB8AC3E}">
        <p14:creationId xmlns:p14="http://schemas.microsoft.com/office/powerpoint/2010/main" val="2284218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normAutofit/>
          </a:bodyPr>
          <a:lstStyle/>
          <a:p>
            <a:r>
              <a:rPr lang="en-IN" sz="2400" b="1" dirty="0" smtClean="0">
                <a:solidFill>
                  <a:srgbClr val="7030A0"/>
                </a:solidFill>
              </a:rPr>
              <a:t>PROJECT STRUCTURE</a:t>
            </a:r>
            <a:endParaRPr lang="en-IN" sz="2400" b="1" dirty="0">
              <a:solidFill>
                <a:srgbClr val="7030A0"/>
              </a:solidFill>
            </a:endParaRPr>
          </a:p>
        </p:txBody>
      </p:sp>
      <p:sp>
        <p:nvSpPr>
          <p:cNvPr id="3" name="Content Placeholder 2"/>
          <p:cNvSpPr>
            <a:spLocks noGrp="1"/>
          </p:cNvSpPr>
          <p:nvPr>
            <p:ph idx="1"/>
          </p:nvPr>
        </p:nvSpPr>
        <p:spPr/>
        <p:txBody>
          <a:bodyPr>
            <a:normAutofit/>
          </a:bodyPr>
          <a:lstStyle/>
          <a:p>
            <a:r>
              <a:rPr lang="en-IN" sz="1800" dirty="0" smtClean="0">
                <a:latin typeface="Times New Roman" panose="02020603050405020304" pitchFamily="18" charset="0"/>
                <a:cs typeface="Times New Roman" panose="02020603050405020304" pitchFamily="18" charset="0"/>
              </a:rPr>
              <a:t>food-delivery/</a:t>
            </a:r>
          </a:p>
          <a:p>
            <a:r>
              <a:rPr lang="en-IN" sz="1800" dirty="0" smtClean="0">
                <a:latin typeface="Times New Roman" panose="02020603050405020304" pitchFamily="18" charset="0"/>
                <a:cs typeface="Times New Roman" panose="02020603050405020304" pitchFamily="18" charset="0"/>
              </a:rPr>
              <a:t>│── index.html</a:t>
            </a:r>
          </a:p>
          <a:p>
            <a:r>
              <a:rPr lang="en-IN" sz="1800" dirty="0" smtClean="0">
                <a:latin typeface="Times New Roman" panose="02020603050405020304" pitchFamily="18" charset="0"/>
                <a:cs typeface="Times New Roman" panose="02020603050405020304" pitchFamily="18" charset="0"/>
              </a:rPr>
              <a:t>│── login.html</a:t>
            </a:r>
          </a:p>
          <a:p>
            <a:r>
              <a:rPr lang="en-IN" sz="1800" dirty="0" smtClean="0">
                <a:latin typeface="Times New Roman" panose="02020603050405020304" pitchFamily="18" charset="0"/>
                <a:cs typeface="Times New Roman" panose="02020603050405020304" pitchFamily="18" charset="0"/>
              </a:rPr>
              <a:t>│── register.html</a:t>
            </a:r>
          </a:p>
          <a:p>
            <a:r>
              <a:rPr lang="en-IN" sz="1800" dirty="0" smtClean="0">
                <a:latin typeface="Times New Roman" panose="02020603050405020304" pitchFamily="18" charset="0"/>
                <a:cs typeface="Times New Roman" panose="02020603050405020304" pitchFamily="18" charset="0"/>
              </a:rPr>
              <a:t>│── dashboard.html</a:t>
            </a:r>
          </a:p>
          <a:p>
            <a:r>
              <a:rPr lang="en-IN" sz="1800" dirty="0" smtClean="0">
                <a:latin typeface="Times New Roman" panose="02020603050405020304" pitchFamily="18" charset="0"/>
                <a:cs typeface="Times New Roman" panose="02020603050405020304" pitchFamily="18" charset="0"/>
              </a:rPr>
              <a:t>│── style.css</a:t>
            </a:r>
          </a:p>
          <a:p>
            <a:r>
              <a:rPr lang="en-IN" sz="1800" dirty="0" smtClean="0">
                <a:latin typeface="Times New Roman" panose="02020603050405020304" pitchFamily="18" charset="0"/>
                <a:cs typeface="Times New Roman" panose="02020603050405020304" pitchFamily="18" charset="0"/>
              </a:rPr>
              <a:t>│── script.js</a:t>
            </a:r>
          </a:p>
          <a:p>
            <a:r>
              <a:rPr lang="en-IN" sz="1800" dirty="0" smtClean="0">
                <a:latin typeface="Times New Roman" panose="02020603050405020304" pitchFamily="18" charset="0"/>
                <a:cs typeface="Times New Roman" panose="02020603050405020304" pitchFamily="18" charset="0"/>
              </a:rPr>
              <a:t>│── server.js</a:t>
            </a:r>
          </a:p>
          <a:p>
            <a:r>
              <a:rPr lang="en-IN" sz="1800" dirty="0" smtClean="0">
                <a:latin typeface="Times New Roman" panose="02020603050405020304" pitchFamily="18" charset="0"/>
                <a:cs typeface="Times New Roman" panose="02020603050405020304" pitchFamily="18" charset="0"/>
              </a:rPr>
              <a:t>│── </a:t>
            </a:r>
            <a:r>
              <a:rPr lang="en-IN" sz="1800" dirty="0" err="1" smtClean="0">
                <a:latin typeface="Times New Roman" panose="02020603050405020304" pitchFamily="18" charset="0"/>
                <a:cs typeface="Times New Roman" panose="02020603050405020304" pitchFamily="18" charset="0"/>
              </a:rPr>
              <a:t>db.sql</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9092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425" y="-100013"/>
            <a:ext cx="10515600" cy="1325563"/>
          </a:xfrm>
        </p:spPr>
        <p:txBody>
          <a:bodyPr>
            <a:normAutofit/>
          </a:bodyPr>
          <a:lstStyle/>
          <a:p>
            <a:r>
              <a:rPr lang="en-IN" sz="2400" b="1" dirty="0" smtClean="0">
                <a:latin typeface="Times New Roman" panose="02020603050405020304" pitchFamily="18" charset="0"/>
                <a:cs typeface="Times New Roman" panose="02020603050405020304" pitchFamily="18" charset="0"/>
              </a:rPr>
              <a:t>FRONTEND CODE</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33425" y="1225550"/>
            <a:ext cx="10515600" cy="5118100"/>
          </a:xfrm>
        </p:spPr>
        <p:txBody>
          <a:bodyPr>
            <a:noAutofit/>
          </a:bodyPr>
          <a:lstStyle/>
          <a:p>
            <a:pPr marL="0" indent="0">
              <a:buNone/>
            </a:pPr>
            <a:r>
              <a:rPr lang="en-IN" sz="1800" dirty="0" smtClean="0">
                <a:latin typeface="Times New Roman" panose="02020603050405020304" pitchFamily="18" charset="0"/>
                <a:cs typeface="Times New Roman" panose="02020603050405020304" pitchFamily="18" charset="0"/>
              </a:rPr>
              <a:t>&lt;!DOCTYPE html&gt;</a:t>
            </a:r>
          </a:p>
          <a:p>
            <a:pPr marL="0" indent="0">
              <a:buNone/>
            </a:pPr>
            <a:r>
              <a:rPr lang="en-IN" sz="1800" dirty="0" smtClean="0">
                <a:latin typeface="Times New Roman" panose="02020603050405020304" pitchFamily="18" charset="0"/>
                <a:cs typeface="Times New Roman" panose="02020603050405020304" pitchFamily="18" charset="0"/>
              </a:rPr>
              <a:t>&lt;html&gt;</a:t>
            </a:r>
          </a:p>
          <a:p>
            <a:pPr marL="0" indent="0">
              <a:buNone/>
            </a:pPr>
            <a:r>
              <a:rPr lang="en-IN" sz="1800" dirty="0" smtClean="0">
                <a:latin typeface="Times New Roman" panose="02020603050405020304" pitchFamily="18" charset="0"/>
                <a:cs typeface="Times New Roman" panose="02020603050405020304" pitchFamily="18" charset="0"/>
              </a:rPr>
              <a:t>&lt;head&gt;</a:t>
            </a:r>
          </a:p>
          <a:p>
            <a:pPr marL="0" indent="0">
              <a:buNone/>
            </a:pPr>
            <a:r>
              <a:rPr lang="en-IN" sz="1800" dirty="0" smtClean="0">
                <a:latin typeface="Times New Roman" panose="02020603050405020304" pitchFamily="18" charset="0"/>
                <a:cs typeface="Times New Roman" panose="02020603050405020304" pitchFamily="18" charset="0"/>
              </a:rPr>
              <a:t>    &lt;title&gt;Food Delivery&lt;/title&gt;</a:t>
            </a:r>
          </a:p>
          <a:p>
            <a:pPr marL="0" indent="0">
              <a:buNone/>
            </a:pPr>
            <a:r>
              <a:rPr lang="en-IN" sz="1800" dirty="0" smtClean="0">
                <a:latin typeface="Times New Roman" panose="02020603050405020304" pitchFamily="18" charset="0"/>
                <a:cs typeface="Times New Roman" panose="02020603050405020304" pitchFamily="18" charset="0"/>
              </a:rPr>
              <a:t>    &lt;link </a:t>
            </a:r>
            <a:r>
              <a:rPr lang="en-IN" sz="1800" dirty="0" err="1" smtClean="0">
                <a:latin typeface="Times New Roman" panose="02020603050405020304" pitchFamily="18" charset="0"/>
                <a:cs typeface="Times New Roman" panose="02020603050405020304" pitchFamily="18" charset="0"/>
              </a:rPr>
              <a:t>rel</a:t>
            </a:r>
            <a:r>
              <a:rPr lang="en-IN" sz="1800" dirty="0" smtClean="0">
                <a:latin typeface="Times New Roman" panose="02020603050405020304" pitchFamily="18" charset="0"/>
                <a:cs typeface="Times New Roman" panose="02020603050405020304" pitchFamily="18" charset="0"/>
              </a:rPr>
              <a:t>="</a:t>
            </a:r>
            <a:r>
              <a:rPr lang="en-IN" sz="1800" dirty="0" err="1" smtClean="0">
                <a:latin typeface="Times New Roman" panose="02020603050405020304" pitchFamily="18" charset="0"/>
                <a:cs typeface="Times New Roman" panose="02020603050405020304" pitchFamily="18" charset="0"/>
              </a:rPr>
              <a:t>stylesheet</a:t>
            </a:r>
            <a:r>
              <a:rPr lang="en-IN" sz="1800" dirty="0" smtClean="0">
                <a:latin typeface="Times New Roman" panose="02020603050405020304" pitchFamily="18" charset="0"/>
                <a:cs typeface="Times New Roman" panose="02020603050405020304" pitchFamily="18" charset="0"/>
              </a:rPr>
              <a:t>" </a:t>
            </a:r>
            <a:r>
              <a:rPr lang="en-IN" sz="1800" dirty="0" err="1" smtClean="0">
                <a:latin typeface="Times New Roman" panose="02020603050405020304" pitchFamily="18" charset="0"/>
                <a:cs typeface="Times New Roman" panose="02020603050405020304" pitchFamily="18" charset="0"/>
              </a:rPr>
              <a:t>href</a:t>
            </a:r>
            <a:r>
              <a:rPr lang="en-IN" sz="1800" dirty="0" smtClean="0">
                <a:latin typeface="Times New Roman" panose="02020603050405020304" pitchFamily="18" charset="0"/>
                <a:cs typeface="Times New Roman" panose="02020603050405020304" pitchFamily="18" charset="0"/>
              </a:rPr>
              <a:t>="style.css"&gt;</a:t>
            </a:r>
          </a:p>
          <a:p>
            <a:pPr marL="0" indent="0">
              <a:buNone/>
            </a:pPr>
            <a:r>
              <a:rPr lang="en-IN" sz="1800" dirty="0" smtClean="0">
                <a:latin typeface="Times New Roman" panose="02020603050405020304" pitchFamily="18" charset="0"/>
                <a:cs typeface="Times New Roman" panose="02020603050405020304" pitchFamily="18" charset="0"/>
              </a:rPr>
              <a:t>&lt;/head&gt;</a:t>
            </a:r>
          </a:p>
          <a:p>
            <a:pPr marL="0" indent="0">
              <a:buNone/>
            </a:pPr>
            <a:r>
              <a:rPr lang="en-IN" sz="1800" dirty="0" smtClean="0">
                <a:latin typeface="Times New Roman" panose="02020603050405020304" pitchFamily="18" charset="0"/>
                <a:cs typeface="Times New Roman" panose="02020603050405020304" pitchFamily="18" charset="0"/>
              </a:rPr>
              <a:t>&lt;body&gt;</a:t>
            </a:r>
          </a:p>
          <a:p>
            <a:pPr marL="0" indent="0">
              <a:buNone/>
            </a:pPr>
            <a:endParaRPr lang="en-IN" sz="1800" dirty="0" smtClean="0">
              <a:latin typeface="Times New Roman" panose="02020603050405020304" pitchFamily="18" charset="0"/>
              <a:cs typeface="Times New Roman" panose="02020603050405020304" pitchFamily="18" charset="0"/>
            </a:endParaRPr>
          </a:p>
          <a:p>
            <a:pPr marL="0" indent="0">
              <a:buNone/>
            </a:pPr>
            <a:r>
              <a:rPr lang="en-IN" sz="1800" dirty="0" smtClean="0">
                <a:latin typeface="Times New Roman" panose="02020603050405020304" pitchFamily="18" charset="0"/>
                <a:cs typeface="Times New Roman" panose="02020603050405020304" pitchFamily="18" charset="0"/>
              </a:rPr>
              <a:t>&lt;h1&gt;🍔 Food Delivery App&lt;/h1&gt;</a:t>
            </a:r>
          </a:p>
          <a:p>
            <a:pPr marL="0" indent="0">
              <a:buNone/>
            </a:pPr>
            <a:endParaRPr lang="en-IN" sz="1800" dirty="0" smtClean="0">
              <a:latin typeface="Times New Roman" panose="02020603050405020304" pitchFamily="18" charset="0"/>
              <a:cs typeface="Times New Roman" panose="02020603050405020304" pitchFamily="18" charset="0"/>
            </a:endParaRPr>
          </a:p>
          <a:p>
            <a:pPr marL="0" indent="0">
              <a:buNone/>
            </a:pPr>
            <a:r>
              <a:rPr lang="en-IN" sz="1800" dirty="0" smtClean="0">
                <a:latin typeface="Times New Roman" panose="02020603050405020304" pitchFamily="18" charset="0"/>
                <a:cs typeface="Times New Roman" panose="02020603050405020304" pitchFamily="18" charset="0"/>
              </a:rPr>
              <a:t>&lt;div class="menu"&gt;</a:t>
            </a:r>
          </a:p>
          <a:p>
            <a:pPr marL="0" indent="0">
              <a:buNone/>
            </a:pPr>
            <a:r>
              <a:rPr lang="en-IN" sz="1800" dirty="0" smtClean="0">
                <a:latin typeface="Times New Roman" panose="02020603050405020304" pitchFamily="18" charset="0"/>
                <a:cs typeface="Times New Roman" panose="02020603050405020304" pitchFamily="18" charset="0"/>
              </a:rPr>
              <a:t>    &lt;div class="item"&gt;</a:t>
            </a:r>
          </a:p>
          <a:p>
            <a:pPr marL="0" indent="0">
              <a:buNone/>
            </a:pPr>
            <a:r>
              <a:rPr lang="en-IN" sz="1800" dirty="0" smtClean="0">
                <a:latin typeface="Times New Roman" panose="02020603050405020304" pitchFamily="18" charset="0"/>
                <a:cs typeface="Times New Roman" panose="02020603050405020304" pitchFamily="18" charset="0"/>
              </a:rPr>
              <a:t>        &lt;h2&gt;Pizza&lt;/h2&gt;</a:t>
            </a:r>
          </a:p>
          <a:p>
            <a:pPr marL="0" indent="0">
              <a:buNone/>
            </a:pPr>
            <a:r>
              <a:rPr lang="en-IN" sz="1800" dirty="0" smtClean="0">
                <a:latin typeface="Times New Roman" panose="02020603050405020304" pitchFamily="18" charset="0"/>
                <a:cs typeface="Times New Roman" panose="02020603050405020304" pitchFamily="18" charset="0"/>
              </a:rPr>
              <a:t>        &lt;p&gt;₹200&lt;/p&gt;</a:t>
            </a:r>
          </a:p>
          <a:p>
            <a:pPr marL="0" indent="0">
              <a:buNone/>
            </a:pPr>
            <a:r>
              <a:rPr lang="en-IN" sz="1800" dirty="0" smtClean="0">
                <a:latin typeface="Times New Roman" panose="02020603050405020304" pitchFamily="18" charset="0"/>
                <a:cs typeface="Times New Roman" panose="02020603050405020304" pitchFamily="18" charset="0"/>
              </a:rPr>
              <a:t>        &lt;button </a:t>
            </a:r>
            <a:r>
              <a:rPr lang="en-IN" sz="1800" dirty="0" err="1" smtClean="0">
                <a:latin typeface="Times New Roman" panose="02020603050405020304" pitchFamily="18" charset="0"/>
                <a:cs typeface="Times New Roman" panose="02020603050405020304" pitchFamily="18" charset="0"/>
              </a:rPr>
              <a:t>onclick</a:t>
            </a:r>
            <a:r>
              <a:rPr lang="en-IN" sz="1800" dirty="0" smtClean="0">
                <a:latin typeface="Times New Roman" panose="02020603050405020304" pitchFamily="18" charset="0"/>
                <a:cs typeface="Times New Roman" panose="02020603050405020304" pitchFamily="18" charset="0"/>
              </a:rPr>
              <a:t>="</a:t>
            </a:r>
            <a:r>
              <a:rPr lang="en-IN" sz="1800" dirty="0" err="1" smtClean="0">
                <a:latin typeface="Times New Roman" panose="02020603050405020304" pitchFamily="18" charset="0"/>
                <a:cs typeface="Times New Roman" panose="02020603050405020304" pitchFamily="18" charset="0"/>
              </a:rPr>
              <a:t>addToCart</a:t>
            </a:r>
            <a:r>
              <a:rPr lang="en-IN" sz="1800" dirty="0" smtClean="0">
                <a:latin typeface="Times New Roman" panose="02020603050405020304" pitchFamily="18" charset="0"/>
                <a:cs typeface="Times New Roman" panose="02020603050405020304" pitchFamily="18" charset="0"/>
              </a:rPr>
              <a:t>('Pizza')"&gt;Add&lt;/button&gt;</a:t>
            </a:r>
          </a:p>
          <a:p>
            <a:pPr marL="0" indent="0">
              <a:buNone/>
            </a:pPr>
            <a:r>
              <a:rPr lang="en-IN" sz="1800" dirty="0" smtClean="0">
                <a:latin typeface="Times New Roman" panose="02020603050405020304" pitchFamily="18" charset="0"/>
                <a:cs typeface="Times New Roman" panose="02020603050405020304" pitchFamily="18" charset="0"/>
              </a:rPr>
              <a:t>    </a:t>
            </a:r>
          </a:p>
        </p:txBody>
      </p:sp>
      <p:sp>
        <p:nvSpPr>
          <p:cNvPr id="4" name="Rectangle 3"/>
          <p:cNvSpPr/>
          <p:nvPr/>
        </p:nvSpPr>
        <p:spPr>
          <a:xfrm>
            <a:off x="800100" y="777359"/>
            <a:ext cx="2488310" cy="369332"/>
          </a:xfrm>
          <a:prstGeom prst="rect">
            <a:avLst/>
          </a:prstGeom>
        </p:spPr>
        <p:txBody>
          <a:bodyPr wrap="none">
            <a:spAutoFit/>
          </a:bodyPr>
          <a:lstStyle/>
          <a:p>
            <a:r>
              <a:rPr lang="en-IN" b="1" dirty="0" smtClean="0"/>
              <a:t>index.html (Home Page)</a:t>
            </a:r>
            <a:endParaRPr lang="en-IN" dirty="0"/>
          </a:p>
        </p:txBody>
      </p:sp>
    </p:spTree>
    <p:extLst>
      <p:ext uri="{BB962C8B-B14F-4D97-AF65-F5344CB8AC3E}">
        <p14:creationId xmlns:p14="http://schemas.microsoft.com/office/powerpoint/2010/main" val="4189770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15392399" y="8543924"/>
            <a:ext cx="619125" cy="1790700"/>
          </a:xfrm>
        </p:spPr>
        <p:txBody>
          <a:bodyPr/>
          <a:lstStyle/>
          <a:p>
            <a:endParaRPr lang="en-IN" dirty="0"/>
          </a:p>
        </p:txBody>
      </p:sp>
      <p:sp>
        <p:nvSpPr>
          <p:cNvPr id="3" name="Content Placeholder 2"/>
          <p:cNvSpPr>
            <a:spLocks noGrp="1"/>
          </p:cNvSpPr>
          <p:nvPr>
            <p:ph idx="1"/>
          </p:nvPr>
        </p:nvSpPr>
        <p:spPr>
          <a:xfrm>
            <a:off x="304800" y="276225"/>
            <a:ext cx="10744200" cy="3438525"/>
          </a:xfrm>
        </p:spPr>
        <p:txBody>
          <a:bodyPr>
            <a:noAutofit/>
          </a:bodyPr>
          <a:lstStyle/>
          <a:p>
            <a:pPr marL="0" indent="0">
              <a:buNone/>
            </a:pPr>
            <a:r>
              <a:rPr lang="en-IN" sz="1800" dirty="0" smtClean="0">
                <a:latin typeface="Times New Roman" panose="02020603050405020304" pitchFamily="18" charset="0"/>
                <a:cs typeface="Times New Roman" panose="02020603050405020304" pitchFamily="18" charset="0"/>
              </a:rPr>
              <a:t>&lt;/div&gt;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&lt;div class="item"&gt;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&lt;h2&gt;Burger&lt;/h2&gt;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&lt;p&gt;₹150&lt;/p&gt;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&lt;button </a:t>
            </a:r>
            <a:r>
              <a:rPr lang="en-IN" sz="1800" dirty="0" err="1" smtClean="0">
                <a:latin typeface="Times New Roman" panose="02020603050405020304" pitchFamily="18" charset="0"/>
                <a:cs typeface="Times New Roman" panose="02020603050405020304" pitchFamily="18" charset="0"/>
              </a:rPr>
              <a:t>onclick</a:t>
            </a:r>
            <a:r>
              <a:rPr lang="en-IN" sz="1800" dirty="0" smtClean="0">
                <a:latin typeface="Times New Roman" panose="02020603050405020304" pitchFamily="18" charset="0"/>
                <a:cs typeface="Times New Roman" panose="02020603050405020304" pitchFamily="18" charset="0"/>
              </a:rPr>
              <a:t>="</a:t>
            </a:r>
            <a:r>
              <a:rPr lang="en-IN" sz="1800" dirty="0" err="1" smtClean="0">
                <a:latin typeface="Times New Roman" panose="02020603050405020304" pitchFamily="18" charset="0"/>
                <a:cs typeface="Times New Roman" panose="02020603050405020304" pitchFamily="18" charset="0"/>
              </a:rPr>
              <a:t>addToCart</a:t>
            </a:r>
            <a:r>
              <a:rPr lang="en-IN" sz="1800" dirty="0" smtClean="0">
                <a:latin typeface="Times New Roman" panose="02020603050405020304" pitchFamily="18" charset="0"/>
                <a:cs typeface="Times New Roman" panose="02020603050405020304" pitchFamily="18" charset="0"/>
              </a:rPr>
              <a:t>('Burger')"&gt;Add&lt;/button&gt;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&lt;/div&gt;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&lt;/div&gt;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&lt;button </a:t>
            </a:r>
            <a:r>
              <a:rPr lang="en-IN" sz="1800" dirty="0" err="1" smtClean="0">
                <a:latin typeface="Times New Roman" panose="02020603050405020304" pitchFamily="18" charset="0"/>
                <a:cs typeface="Times New Roman" panose="02020603050405020304" pitchFamily="18" charset="0"/>
              </a:rPr>
              <a:t>onclick</a:t>
            </a:r>
            <a:r>
              <a:rPr lang="en-IN" sz="1800" dirty="0" smtClean="0">
                <a:latin typeface="Times New Roman" panose="02020603050405020304" pitchFamily="18" charset="0"/>
                <a:cs typeface="Times New Roman" panose="02020603050405020304" pitchFamily="18" charset="0"/>
              </a:rPr>
              <a:t>="checkout()"&gt;Checkout&lt;/button&gt;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&lt;script </a:t>
            </a:r>
            <a:r>
              <a:rPr lang="en-IN" sz="1800" dirty="0" err="1" smtClean="0">
                <a:latin typeface="Times New Roman" panose="02020603050405020304" pitchFamily="18" charset="0"/>
                <a:cs typeface="Times New Roman" panose="02020603050405020304" pitchFamily="18" charset="0"/>
              </a:rPr>
              <a:t>src</a:t>
            </a:r>
            <a:r>
              <a:rPr lang="en-IN" sz="1800" dirty="0" smtClean="0">
                <a:latin typeface="Times New Roman" panose="02020603050405020304" pitchFamily="18" charset="0"/>
                <a:cs typeface="Times New Roman" panose="02020603050405020304" pitchFamily="18" charset="0"/>
              </a:rPr>
              <a:t>="script.js"&gt;&lt;/script&gt;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&lt;/body&gt;</a:t>
            </a:r>
            <a:br>
              <a:rPr lang="en-IN" sz="1800" dirty="0" smtClean="0">
                <a:latin typeface="Times New Roman" panose="02020603050405020304" pitchFamily="18" charset="0"/>
                <a:cs typeface="Times New Roman" panose="02020603050405020304" pitchFamily="18" charset="0"/>
              </a:rPr>
            </a:br>
            <a:r>
              <a:rPr lang="en-IN" sz="1800" dirty="0" smtClean="0">
                <a:latin typeface="Times New Roman" panose="02020603050405020304" pitchFamily="18" charset="0"/>
                <a:cs typeface="Times New Roman" panose="02020603050405020304" pitchFamily="18" charset="0"/>
              </a:rPr>
              <a:t>&lt;/html&gt;</a:t>
            </a:r>
          </a:p>
          <a:p>
            <a:pPr marL="0" indent="0">
              <a:buNone/>
            </a:pPr>
            <a:endParaRPr lang="en-IN" sz="1800" dirty="0" smtClean="0">
              <a:latin typeface="Times New Roman" panose="02020603050405020304" pitchFamily="18" charset="0"/>
              <a:cs typeface="Times New Roman" panose="02020603050405020304" pitchFamily="18" charset="0"/>
            </a:endParaRPr>
          </a:p>
          <a:p>
            <a:pPr marL="0" indent="0">
              <a:buNone/>
            </a:pPr>
            <a:r>
              <a:rPr lang="en-IN" sz="1800" dirty="0" smtClean="0">
                <a:cs typeface="Times New Roman" panose="02020603050405020304" pitchFamily="18" charset="0"/>
              </a:rPr>
              <a:t>FOOD DELIVARY APP</a:t>
            </a:r>
          </a:p>
          <a:p>
            <a:r>
              <a:rPr lang="en-IN" sz="1800" b="1" dirty="0" smtClean="0">
                <a:latin typeface="Times New Roman" panose="02020603050405020304" pitchFamily="18" charset="0"/>
                <a:cs typeface="Times New Roman" panose="02020603050405020304" pitchFamily="18" charset="0"/>
              </a:rPr>
              <a:t>Pizza</a:t>
            </a:r>
          </a:p>
          <a:p>
            <a:r>
              <a:rPr lang="en-IN" sz="1800" dirty="0"/>
              <a:t>₹</a:t>
            </a:r>
            <a:r>
              <a:rPr lang="en-IN" sz="1800" dirty="0" smtClean="0"/>
              <a:t>200</a:t>
            </a:r>
          </a:p>
          <a:p>
            <a:r>
              <a:rPr lang="en-IN" sz="1800" b="1" dirty="0"/>
              <a:t>Burger</a:t>
            </a:r>
          </a:p>
          <a:p>
            <a:r>
              <a:rPr lang="en-IN" sz="1800" dirty="0"/>
              <a:t>₹150</a:t>
            </a:r>
          </a:p>
          <a:p>
            <a:r>
              <a:rPr lang="en-IN" sz="1800" dirty="0" smtClean="0">
                <a:latin typeface="Times New Roman" panose="02020603050405020304" pitchFamily="18" charset="0"/>
                <a:cs typeface="Times New Roman" panose="02020603050405020304" pitchFamily="18" charset="0"/>
              </a:rPr>
              <a:t>ADD</a:t>
            </a:r>
          </a:p>
          <a:p>
            <a:r>
              <a:rPr lang="en-IN" sz="1800" dirty="0" smtClean="0">
                <a:latin typeface="Times New Roman" panose="02020603050405020304" pitchFamily="18" charset="0"/>
                <a:cs typeface="Times New Roman" panose="02020603050405020304" pitchFamily="18" charset="0"/>
              </a:rPr>
              <a:t>CHECKOUT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145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5250"/>
            <a:ext cx="10896600" cy="985838"/>
          </a:xfrm>
        </p:spPr>
        <p:txBody>
          <a:bodyPr>
            <a:normAutofit/>
          </a:bodyPr>
          <a:lstStyle/>
          <a:p>
            <a:r>
              <a:rPr lang="en-IN" sz="2400" b="1" dirty="0" smtClean="0">
                <a:latin typeface="Times New Roman" panose="02020603050405020304" pitchFamily="18" charset="0"/>
                <a:cs typeface="Times New Roman" panose="02020603050405020304" pitchFamily="18" charset="0"/>
              </a:rPr>
              <a:t>STYLE.CSS</a:t>
            </a:r>
            <a:br>
              <a:rPr lang="en-IN" sz="2400" b="1" dirty="0" smtClean="0">
                <a:latin typeface="Times New Roman" panose="02020603050405020304" pitchFamily="18" charset="0"/>
                <a:cs typeface="Times New Roman" panose="02020603050405020304" pitchFamily="18" charset="0"/>
              </a:rPr>
            </a:br>
            <a:r>
              <a:rPr lang="en-IN" sz="2400" b="1" dirty="0" smtClean="0">
                <a:latin typeface="Times New Roman" panose="02020603050405020304" pitchFamily="18" charset="0"/>
                <a:cs typeface="Times New Roman" panose="02020603050405020304" pitchFamily="18" charset="0"/>
              </a:rPr>
              <a:t>CSS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133474"/>
            <a:ext cx="10515600" cy="5534026"/>
          </a:xfrm>
        </p:spPr>
        <p:txBody>
          <a:bodyPr>
            <a:noAutofit/>
          </a:bodyPr>
          <a:lstStyle/>
          <a:p>
            <a:pPr marL="0" indent="0">
              <a:buNone/>
            </a:pPr>
            <a:r>
              <a:rPr lang="en-IN" sz="1800" dirty="0" smtClean="0"/>
              <a:t>body {</a:t>
            </a:r>
          </a:p>
          <a:p>
            <a:pPr marL="0" indent="0">
              <a:buNone/>
            </a:pPr>
            <a:r>
              <a:rPr lang="en-IN" sz="1800" dirty="0" smtClean="0"/>
              <a:t>    font-family: Arial;</a:t>
            </a:r>
          </a:p>
          <a:p>
            <a:pPr marL="0" indent="0">
              <a:buNone/>
            </a:pPr>
            <a:r>
              <a:rPr lang="en-IN" sz="1800" dirty="0" smtClean="0"/>
              <a:t>    text-align: </a:t>
            </a:r>
            <a:r>
              <a:rPr lang="en-IN" sz="1800" dirty="0" err="1" smtClean="0"/>
              <a:t>center</a:t>
            </a:r>
            <a:r>
              <a:rPr lang="en-IN" sz="1800" dirty="0" smtClean="0"/>
              <a:t>;</a:t>
            </a:r>
          </a:p>
          <a:p>
            <a:pPr marL="0" indent="0">
              <a:buNone/>
            </a:pPr>
            <a:r>
              <a:rPr lang="en-IN" sz="1800" dirty="0" smtClean="0"/>
              <a:t>    background: #f5f5f5;</a:t>
            </a:r>
          </a:p>
          <a:p>
            <a:pPr marL="0" indent="0">
              <a:buNone/>
            </a:pPr>
            <a:r>
              <a:rPr lang="en-IN" sz="1800" dirty="0" smtClean="0"/>
              <a:t>}</a:t>
            </a:r>
          </a:p>
          <a:p>
            <a:pPr marL="0" indent="0">
              <a:buNone/>
            </a:pPr>
            <a:endParaRPr lang="en-IN" sz="1800" dirty="0" smtClean="0"/>
          </a:p>
          <a:p>
            <a:pPr marL="0" indent="0">
              <a:buNone/>
            </a:pPr>
            <a:r>
              <a:rPr lang="en-IN" sz="1800" dirty="0" smtClean="0"/>
              <a:t>.menu {</a:t>
            </a:r>
          </a:p>
          <a:p>
            <a:pPr marL="0" indent="0">
              <a:buNone/>
            </a:pPr>
            <a:r>
              <a:rPr lang="en-IN" sz="1800" dirty="0" smtClean="0"/>
              <a:t>    display: flex;</a:t>
            </a:r>
          </a:p>
          <a:p>
            <a:pPr marL="0" indent="0">
              <a:buNone/>
            </a:pPr>
            <a:r>
              <a:rPr lang="en-IN" sz="1800" dirty="0" smtClean="0"/>
              <a:t>    justify-content: </a:t>
            </a:r>
            <a:r>
              <a:rPr lang="en-IN" sz="1800" dirty="0" err="1" smtClean="0"/>
              <a:t>center</a:t>
            </a:r>
            <a:r>
              <a:rPr lang="en-IN" sz="1800" dirty="0" smtClean="0"/>
              <a:t>;</a:t>
            </a:r>
          </a:p>
          <a:p>
            <a:pPr marL="0" indent="0">
              <a:buNone/>
            </a:pPr>
            <a:r>
              <a:rPr lang="en-IN" sz="1800" dirty="0" smtClean="0"/>
              <a:t>}</a:t>
            </a:r>
          </a:p>
          <a:p>
            <a:pPr marL="0" indent="0">
              <a:buNone/>
            </a:pPr>
            <a:endParaRPr lang="en-IN" sz="1800" dirty="0" smtClean="0"/>
          </a:p>
          <a:p>
            <a:pPr marL="0" indent="0">
              <a:buNone/>
            </a:pPr>
            <a:r>
              <a:rPr lang="en-IN" sz="1800" dirty="0" smtClean="0"/>
              <a:t>.item {</a:t>
            </a:r>
          </a:p>
          <a:p>
            <a:pPr marL="0" indent="0">
              <a:buNone/>
            </a:pPr>
            <a:r>
              <a:rPr lang="en-IN" sz="1800" dirty="0" smtClean="0"/>
              <a:t>    border: 1px solid #ccc;</a:t>
            </a:r>
          </a:p>
          <a:p>
            <a:pPr marL="0" indent="0">
              <a:buNone/>
            </a:pPr>
            <a:r>
              <a:rPr lang="en-IN" sz="1800" dirty="0" smtClean="0"/>
              <a:t>    padding: 20px;</a:t>
            </a:r>
          </a:p>
          <a:p>
            <a:pPr marL="0" indent="0">
              <a:buNone/>
            </a:pPr>
            <a:r>
              <a:rPr lang="en-IN" sz="1800" dirty="0" smtClean="0"/>
              <a:t>    margin: 10px;</a:t>
            </a:r>
          </a:p>
          <a:p>
            <a:pPr marL="0" indent="0">
              <a:buNone/>
            </a:pPr>
            <a:r>
              <a:rPr lang="en-IN" sz="1800" dirty="0" smtClean="0"/>
              <a:t>     </a:t>
            </a:r>
            <a:endParaRPr lang="en-IN" sz="1800" dirty="0"/>
          </a:p>
        </p:txBody>
      </p:sp>
    </p:spTree>
    <p:extLst>
      <p:ext uri="{BB962C8B-B14F-4D97-AF65-F5344CB8AC3E}">
        <p14:creationId xmlns:p14="http://schemas.microsoft.com/office/powerpoint/2010/main" val="2851062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2550"/>
            <a:ext cx="10515600" cy="4351338"/>
          </a:xfrm>
        </p:spPr>
        <p:txBody>
          <a:bodyPr>
            <a:normAutofit/>
          </a:bodyPr>
          <a:lstStyle/>
          <a:p>
            <a:pPr marL="0" indent="0">
              <a:buNone/>
            </a:pPr>
            <a:r>
              <a:rPr lang="en-IN" sz="1800" dirty="0" smtClean="0"/>
              <a:t>background: white;</a:t>
            </a:r>
          </a:p>
          <a:p>
            <a:pPr marL="0" indent="0">
              <a:buNone/>
            </a:pPr>
            <a:r>
              <a:rPr lang="en-IN" sz="1800" dirty="0" smtClean="0"/>
              <a:t>}</a:t>
            </a:r>
          </a:p>
          <a:p>
            <a:pPr marL="0" indent="0">
              <a:buNone/>
            </a:pPr>
            <a:endParaRPr lang="en-IN" sz="1800" dirty="0" smtClean="0"/>
          </a:p>
          <a:p>
            <a:pPr marL="0" indent="0">
              <a:buNone/>
            </a:pPr>
            <a:r>
              <a:rPr lang="en-IN" sz="1800" dirty="0" smtClean="0"/>
              <a:t>button {</a:t>
            </a:r>
          </a:p>
          <a:p>
            <a:pPr marL="0" indent="0">
              <a:buNone/>
            </a:pPr>
            <a:r>
              <a:rPr lang="en-IN" sz="1800" dirty="0" smtClean="0"/>
              <a:t>    padding: 10px;</a:t>
            </a:r>
          </a:p>
          <a:p>
            <a:pPr marL="0" indent="0">
              <a:buNone/>
            </a:pPr>
            <a:r>
              <a:rPr lang="en-IN" sz="1800" dirty="0" smtClean="0"/>
              <a:t>    background: orange;</a:t>
            </a:r>
          </a:p>
          <a:p>
            <a:pPr marL="0" indent="0">
              <a:buNone/>
            </a:pPr>
            <a:r>
              <a:rPr lang="en-IN" sz="1800" dirty="0" smtClean="0"/>
              <a:t>    border: none;</a:t>
            </a:r>
          </a:p>
          <a:p>
            <a:pPr marL="0" indent="0">
              <a:buNone/>
            </a:pPr>
            <a:r>
              <a:rPr lang="en-IN" sz="1800" dirty="0" smtClean="0"/>
              <a:t>    cursor: pointer;</a:t>
            </a:r>
          </a:p>
          <a:p>
            <a:pPr marL="0" indent="0">
              <a:buNone/>
            </a:pPr>
            <a:r>
              <a:rPr lang="en-IN" sz="1800" dirty="0" smtClean="0"/>
              <a:t>}</a:t>
            </a:r>
            <a:endParaRPr lang="en-IN" sz="1800" dirty="0"/>
          </a:p>
        </p:txBody>
      </p:sp>
      <p:sp>
        <p:nvSpPr>
          <p:cNvPr id="4" name="Rectangle 3"/>
          <p:cNvSpPr/>
          <p:nvPr/>
        </p:nvSpPr>
        <p:spPr>
          <a:xfrm>
            <a:off x="3048000" y="2136339"/>
            <a:ext cx="6096000" cy="369332"/>
          </a:xfrm>
          <a:prstGeom prst="rect">
            <a:avLst/>
          </a:prstGeom>
        </p:spPr>
        <p:txBody>
          <a:bodyPr>
            <a:spAutoFit/>
          </a:bodyPr>
          <a:lstStyle/>
          <a:p>
            <a:r>
              <a:rPr lang="en-IN" dirty="0" smtClean="0"/>
              <a:t> </a:t>
            </a:r>
            <a:endParaRPr lang="en-IN" dirty="0"/>
          </a:p>
        </p:txBody>
      </p:sp>
    </p:spTree>
    <p:extLst>
      <p:ext uri="{BB962C8B-B14F-4D97-AF65-F5344CB8AC3E}">
        <p14:creationId xmlns:p14="http://schemas.microsoft.com/office/powerpoint/2010/main" val="152982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smtClean="0"/>
              <a:t>SCRIPT.JS</a:t>
            </a:r>
            <a:endParaRPr lang="en-IN" sz="2400" b="1" dirty="0"/>
          </a:p>
        </p:txBody>
      </p:sp>
      <p:sp>
        <p:nvSpPr>
          <p:cNvPr id="3" name="Content Placeholder 2"/>
          <p:cNvSpPr>
            <a:spLocks noGrp="1"/>
          </p:cNvSpPr>
          <p:nvPr>
            <p:ph idx="1"/>
          </p:nvPr>
        </p:nvSpPr>
        <p:spPr/>
        <p:txBody>
          <a:bodyPr>
            <a:normAutofit/>
          </a:bodyPr>
          <a:lstStyle/>
          <a:p>
            <a:pPr marL="0" indent="0">
              <a:buNone/>
            </a:pPr>
            <a:r>
              <a:rPr lang="en-IN" sz="1800" dirty="0" smtClean="0"/>
              <a:t>let cart = [];</a:t>
            </a:r>
          </a:p>
          <a:p>
            <a:pPr marL="0" indent="0">
              <a:buNone/>
            </a:pPr>
            <a:endParaRPr lang="en-IN" sz="1800" dirty="0" smtClean="0"/>
          </a:p>
          <a:p>
            <a:pPr marL="0" indent="0">
              <a:buNone/>
            </a:pPr>
            <a:r>
              <a:rPr lang="en-IN" sz="1800" dirty="0" smtClean="0"/>
              <a:t>function </a:t>
            </a:r>
            <a:r>
              <a:rPr lang="en-IN" sz="1800" dirty="0" err="1" smtClean="0"/>
              <a:t>addToCart</a:t>
            </a:r>
            <a:r>
              <a:rPr lang="en-IN" sz="1800" dirty="0" smtClean="0"/>
              <a:t>(item) {</a:t>
            </a:r>
          </a:p>
          <a:p>
            <a:pPr marL="0" indent="0">
              <a:buNone/>
            </a:pPr>
            <a:r>
              <a:rPr lang="en-IN" sz="1800" dirty="0" smtClean="0"/>
              <a:t>    </a:t>
            </a:r>
            <a:r>
              <a:rPr lang="en-IN" sz="1800" dirty="0" err="1" smtClean="0"/>
              <a:t>cart.push</a:t>
            </a:r>
            <a:r>
              <a:rPr lang="en-IN" sz="1800" dirty="0" smtClean="0"/>
              <a:t>(item);</a:t>
            </a:r>
          </a:p>
          <a:p>
            <a:pPr marL="0" indent="0">
              <a:buNone/>
            </a:pPr>
            <a:r>
              <a:rPr lang="en-IN" sz="1800" dirty="0" smtClean="0"/>
              <a:t>    alert(item + " added to cart");</a:t>
            </a:r>
          </a:p>
          <a:p>
            <a:pPr marL="0" indent="0">
              <a:buNone/>
            </a:pPr>
            <a:r>
              <a:rPr lang="en-IN" sz="1800" dirty="0" smtClean="0"/>
              <a:t>}</a:t>
            </a:r>
          </a:p>
          <a:p>
            <a:pPr marL="0" indent="0">
              <a:buNone/>
            </a:pPr>
            <a:endParaRPr lang="en-IN" sz="1800" dirty="0" smtClean="0"/>
          </a:p>
          <a:p>
            <a:pPr marL="0" indent="0">
              <a:buNone/>
            </a:pPr>
            <a:r>
              <a:rPr lang="en-IN" sz="1800" dirty="0" smtClean="0"/>
              <a:t>function checkout() {</a:t>
            </a:r>
          </a:p>
          <a:p>
            <a:pPr marL="0" indent="0">
              <a:buNone/>
            </a:pPr>
            <a:r>
              <a:rPr lang="en-IN" sz="1800" dirty="0" smtClean="0"/>
              <a:t>    alert("Order placed: " + </a:t>
            </a:r>
            <a:r>
              <a:rPr lang="en-IN" sz="1800" dirty="0" err="1" smtClean="0"/>
              <a:t>cart.join</a:t>
            </a:r>
            <a:r>
              <a:rPr lang="en-IN" sz="1800" dirty="0" smtClean="0"/>
              <a:t>(", "));</a:t>
            </a:r>
          </a:p>
          <a:p>
            <a:pPr marL="0" indent="0">
              <a:buNone/>
            </a:pPr>
            <a:r>
              <a:rPr lang="en-IN" sz="1800" dirty="0" smtClean="0"/>
              <a:t>}</a:t>
            </a:r>
            <a:endParaRPr lang="en-IN" sz="1800" dirty="0"/>
          </a:p>
        </p:txBody>
      </p:sp>
    </p:spTree>
    <p:extLst>
      <p:ext uri="{BB962C8B-B14F-4D97-AF65-F5344CB8AC3E}">
        <p14:creationId xmlns:p14="http://schemas.microsoft.com/office/powerpoint/2010/main" val="2339956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b="1" dirty="0" smtClean="0"/>
              <a:t>LOGIN &amp; REGISTER</a:t>
            </a:r>
            <a:r>
              <a:rPr lang="en-IN" b="1" dirty="0" smtClean="0"/>
              <a:t/>
            </a:r>
            <a:br>
              <a:rPr lang="en-IN" b="1" dirty="0" smtClean="0"/>
            </a:br>
            <a:r>
              <a:rPr lang="en-IN" sz="2400" b="1" dirty="0" smtClean="0"/>
              <a:t>login.html</a:t>
            </a:r>
            <a:endParaRPr lang="en-IN" sz="2400" b="1" dirty="0"/>
          </a:p>
        </p:txBody>
      </p:sp>
      <p:sp>
        <p:nvSpPr>
          <p:cNvPr id="3" name="Content Placeholder 2"/>
          <p:cNvSpPr>
            <a:spLocks noGrp="1"/>
          </p:cNvSpPr>
          <p:nvPr>
            <p:ph idx="1"/>
          </p:nvPr>
        </p:nvSpPr>
        <p:spPr/>
        <p:txBody>
          <a:bodyPr>
            <a:normAutofit fontScale="55000" lnSpcReduction="20000"/>
          </a:bodyPr>
          <a:lstStyle/>
          <a:p>
            <a:pPr marL="0" indent="0">
              <a:buNone/>
            </a:pPr>
            <a:r>
              <a:rPr lang="en-IN" sz="3300" dirty="0" smtClean="0"/>
              <a:t>&lt;!DOCTYPE html&gt;</a:t>
            </a:r>
          </a:p>
          <a:p>
            <a:pPr marL="0" indent="0">
              <a:buNone/>
            </a:pPr>
            <a:r>
              <a:rPr lang="en-IN" sz="3300" dirty="0" smtClean="0"/>
              <a:t>&lt;html&gt;</a:t>
            </a:r>
          </a:p>
          <a:p>
            <a:pPr marL="0" indent="0">
              <a:buNone/>
            </a:pPr>
            <a:r>
              <a:rPr lang="en-IN" sz="3300" dirty="0" smtClean="0"/>
              <a:t>&lt;head&gt;</a:t>
            </a:r>
          </a:p>
          <a:p>
            <a:pPr marL="0" indent="0">
              <a:buNone/>
            </a:pPr>
            <a:r>
              <a:rPr lang="en-IN" sz="3300" dirty="0" smtClean="0"/>
              <a:t>    &lt;title&gt;Login&lt;/title&gt;</a:t>
            </a:r>
          </a:p>
          <a:p>
            <a:pPr marL="0" indent="0">
              <a:buNone/>
            </a:pPr>
            <a:r>
              <a:rPr lang="en-IN" sz="3300" dirty="0" smtClean="0"/>
              <a:t>&lt;/head&gt;</a:t>
            </a:r>
          </a:p>
          <a:p>
            <a:pPr marL="0" indent="0">
              <a:buNone/>
            </a:pPr>
            <a:r>
              <a:rPr lang="en-IN" sz="3300" dirty="0" smtClean="0"/>
              <a:t>&lt;body&gt;</a:t>
            </a:r>
          </a:p>
          <a:p>
            <a:pPr marL="0" indent="0">
              <a:buNone/>
            </a:pPr>
            <a:endParaRPr lang="en-IN" sz="3300" dirty="0" smtClean="0"/>
          </a:p>
          <a:p>
            <a:pPr marL="0" indent="0">
              <a:buNone/>
            </a:pPr>
            <a:r>
              <a:rPr lang="en-IN" sz="3300" dirty="0" smtClean="0"/>
              <a:t>&lt;h2&gt;Login&lt;/h2&gt;</a:t>
            </a:r>
          </a:p>
          <a:p>
            <a:pPr marL="0" indent="0">
              <a:buNone/>
            </a:pPr>
            <a:r>
              <a:rPr lang="en-IN" sz="3300" dirty="0" smtClean="0"/>
              <a:t>&lt;form </a:t>
            </a:r>
            <a:r>
              <a:rPr lang="en-IN" sz="3300" dirty="0" err="1" smtClean="0"/>
              <a:t>onsubmit</a:t>
            </a:r>
            <a:r>
              <a:rPr lang="en-IN" sz="3300" dirty="0" smtClean="0"/>
              <a:t>="</a:t>
            </a:r>
            <a:r>
              <a:rPr lang="en-IN" sz="3300" dirty="0" err="1" smtClean="0"/>
              <a:t>loginUser</a:t>
            </a:r>
            <a:r>
              <a:rPr lang="en-IN" sz="3300" dirty="0" smtClean="0"/>
              <a:t>(event)"&gt;</a:t>
            </a:r>
          </a:p>
          <a:p>
            <a:pPr marL="0" indent="0">
              <a:buNone/>
            </a:pPr>
            <a:r>
              <a:rPr lang="en-IN" sz="3300" dirty="0" smtClean="0"/>
              <a:t>    &lt;input type="text" id="username" placeholder="Username"&gt;&lt;</a:t>
            </a:r>
            <a:r>
              <a:rPr lang="en-IN" sz="3300" dirty="0" err="1" smtClean="0"/>
              <a:t>br</a:t>
            </a:r>
            <a:r>
              <a:rPr lang="en-IN" sz="3300" dirty="0" smtClean="0"/>
              <a:t>&gt;&lt;</a:t>
            </a:r>
            <a:r>
              <a:rPr lang="en-IN" sz="3300" dirty="0" err="1" smtClean="0"/>
              <a:t>br</a:t>
            </a:r>
            <a:r>
              <a:rPr lang="en-IN" sz="3300" dirty="0" smtClean="0"/>
              <a:t>&gt;</a:t>
            </a:r>
          </a:p>
          <a:p>
            <a:pPr marL="0" indent="0">
              <a:buNone/>
            </a:pPr>
            <a:r>
              <a:rPr lang="en-IN" sz="3300" dirty="0" smtClean="0"/>
              <a:t>    &lt;input type="password" id="password" placeholder="Password"&gt;&lt;</a:t>
            </a:r>
            <a:r>
              <a:rPr lang="en-IN" sz="3300" dirty="0" err="1" smtClean="0"/>
              <a:t>br</a:t>
            </a:r>
            <a:r>
              <a:rPr lang="en-IN" sz="3300" dirty="0" smtClean="0"/>
              <a:t>&gt;&lt;</a:t>
            </a:r>
            <a:r>
              <a:rPr lang="en-IN" sz="3300" dirty="0" err="1" smtClean="0"/>
              <a:t>br</a:t>
            </a:r>
            <a:r>
              <a:rPr lang="en-IN" sz="3300" dirty="0" smtClean="0"/>
              <a:t>&gt;</a:t>
            </a:r>
          </a:p>
          <a:p>
            <a:pPr marL="0" indent="0">
              <a:buNone/>
            </a:pPr>
            <a:r>
              <a:rPr lang="en-IN" sz="3300" dirty="0" smtClean="0"/>
              <a:t>    &lt;button type="submit"&gt;Login&lt;/button&gt;</a:t>
            </a:r>
          </a:p>
          <a:p>
            <a:pPr marL="0" indent="0">
              <a:buNone/>
            </a:pPr>
            <a:r>
              <a:rPr lang="en-IN" dirty="0" smtClean="0"/>
              <a:t> </a:t>
            </a:r>
            <a:endParaRPr lang="en-IN" dirty="0"/>
          </a:p>
        </p:txBody>
      </p:sp>
    </p:spTree>
    <p:extLst>
      <p:ext uri="{BB962C8B-B14F-4D97-AF65-F5344CB8AC3E}">
        <p14:creationId xmlns:p14="http://schemas.microsoft.com/office/powerpoint/2010/main" val="3004431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1950" y="485775"/>
            <a:ext cx="10991850" cy="5691188"/>
          </a:xfrm>
        </p:spPr>
        <p:txBody>
          <a:bodyPr>
            <a:normAutofit/>
          </a:bodyPr>
          <a:lstStyle/>
          <a:p>
            <a:pPr marL="0" indent="0">
              <a:buNone/>
            </a:pPr>
            <a:r>
              <a:rPr lang="en-IN" sz="1800" dirty="0" smtClean="0"/>
              <a:t>&lt;/form&gt;</a:t>
            </a:r>
          </a:p>
          <a:p>
            <a:pPr marL="0" indent="0">
              <a:buNone/>
            </a:pPr>
            <a:endParaRPr lang="en-IN" sz="1800" dirty="0" smtClean="0"/>
          </a:p>
          <a:p>
            <a:pPr marL="0" indent="0">
              <a:buNone/>
            </a:pPr>
            <a:r>
              <a:rPr lang="en-IN" sz="1800" dirty="0" smtClean="0"/>
              <a:t>&lt;script&gt;</a:t>
            </a:r>
          </a:p>
          <a:p>
            <a:pPr marL="0" indent="0">
              <a:buNone/>
            </a:pPr>
            <a:r>
              <a:rPr lang="en-IN" sz="1800" dirty="0" smtClean="0"/>
              <a:t>function </a:t>
            </a:r>
            <a:r>
              <a:rPr lang="en-IN" sz="1800" dirty="0" err="1" smtClean="0"/>
              <a:t>loginUser</a:t>
            </a:r>
            <a:r>
              <a:rPr lang="en-IN" sz="1800" dirty="0" smtClean="0"/>
              <a:t>(e) {</a:t>
            </a:r>
          </a:p>
          <a:p>
            <a:pPr marL="0" indent="0">
              <a:buNone/>
            </a:pPr>
            <a:r>
              <a:rPr lang="en-IN" sz="1800" dirty="0" smtClean="0"/>
              <a:t>    </a:t>
            </a:r>
            <a:r>
              <a:rPr lang="en-IN" sz="1800" dirty="0" err="1" smtClean="0"/>
              <a:t>e.preventDefault</a:t>
            </a:r>
            <a:r>
              <a:rPr lang="en-IN" sz="1800" dirty="0" smtClean="0"/>
              <a:t>();</a:t>
            </a:r>
          </a:p>
          <a:p>
            <a:pPr marL="0" indent="0">
              <a:buNone/>
            </a:pPr>
            <a:r>
              <a:rPr lang="en-IN" sz="1800" dirty="0" smtClean="0"/>
              <a:t>    alert("Login Successful");</a:t>
            </a:r>
          </a:p>
          <a:p>
            <a:pPr marL="0" indent="0">
              <a:buNone/>
            </a:pPr>
            <a:r>
              <a:rPr lang="en-IN" sz="1800" dirty="0" smtClean="0"/>
              <a:t>    </a:t>
            </a:r>
            <a:r>
              <a:rPr lang="en-IN" sz="1800" dirty="0" err="1" smtClean="0"/>
              <a:t>window.location.href</a:t>
            </a:r>
            <a:r>
              <a:rPr lang="en-IN" sz="1800" dirty="0" smtClean="0"/>
              <a:t> = "index.html";</a:t>
            </a:r>
          </a:p>
          <a:p>
            <a:pPr marL="0" indent="0">
              <a:buNone/>
            </a:pPr>
            <a:r>
              <a:rPr lang="en-IN" sz="1800" dirty="0" smtClean="0"/>
              <a:t>}</a:t>
            </a:r>
          </a:p>
          <a:p>
            <a:pPr marL="0" indent="0">
              <a:buNone/>
            </a:pPr>
            <a:r>
              <a:rPr lang="en-IN" sz="1800" dirty="0" smtClean="0"/>
              <a:t>&lt;/script&gt;</a:t>
            </a:r>
          </a:p>
          <a:p>
            <a:pPr marL="0" indent="0">
              <a:buNone/>
            </a:pPr>
            <a:endParaRPr lang="en-IN" sz="1800" dirty="0" smtClean="0"/>
          </a:p>
          <a:p>
            <a:pPr marL="0" indent="0">
              <a:buNone/>
            </a:pPr>
            <a:r>
              <a:rPr lang="en-IN" sz="1800" dirty="0" smtClean="0"/>
              <a:t>&lt;/body&gt;</a:t>
            </a:r>
          </a:p>
          <a:p>
            <a:pPr marL="0" indent="0">
              <a:buNone/>
            </a:pPr>
            <a:r>
              <a:rPr lang="en-IN" sz="1800" dirty="0" smtClean="0"/>
              <a:t>&lt;/html&gt;</a:t>
            </a:r>
            <a:endParaRPr lang="en-IN" sz="1800" dirty="0"/>
          </a:p>
        </p:txBody>
      </p:sp>
    </p:spTree>
    <p:extLst>
      <p:ext uri="{BB962C8B-B14F-4D97-AF65-F5344CB8AC3E}">
        <p14:creationId xmlns:p14="http://schemas.microsoft.com/office/powerpoint/2010/main" val="3585045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IN" sz="2300" dirty="0" smtClean="0"/>
              <a:t>&lt;!DOCTYPE html&gt;</a:t>
            </a:r>
          </a:p>
          <a:p>
            <a:pPr marL="0" indent="0">
              <a:buNone/>
            </a:pPr>
            <a:r>
              <a:rPr lang="en-IN" sz="2300" dirty="0" smtClean="0"/>
              <a:t>&lt;html&gt;</a:t>
            </a:r>
          </a:p>
          <a:p>
            <a:pPr marL="0" indent="0">
              <a:buNone/>
            </a:pPr>
            <a:r>
              <a:rPr lang="en-IN" sz="2300" dirty="0" smtClean="0"/>
              <a:t>&lt;head&gt;</a:t>
            </a:r>
          </a:p>
          <a:p>
            <a:pPr marL="0" indent="0">
              <a:buNone/>
            </a:pPr>
            <a:r>
              <a:rPr lang="en-IN" sz="2300" dirty="0" smtClean="0"/>
              <a:t>    &lt;title&gt;Register&lt;/title&gt;</a:t>
            </a:r>
          </a:p>
          <a:p>
            <a:pPr marL="0" indent="0">
              <a:buNone/>
            </a:pPr>
            <a:r>
              <a:rPr lang="en-IN" sz="2300" dirty="0" smtClean="0"/>
              <a:t>&lt;/head&gt;</a:t>
            </a:r>
          </a:p>
          <a:p>
            <a:pPr marL="0" indent="0">
              <a:buNone/>
            </a:pPr>
            <a:r>
              <a:rPr lang="en-IN" sz="2300" dirty="0" smtClean="0"/>
              <a:t>&lt;body&gt;</a:t>
            </a:r>
          </a:p>
          <a:p>
            <a:pPr marL="0" indent="0">
              <a:buNone/>
            </a:pPr>
            <a:endParaRPr lang="en-IN" sz="2300" dirty="0" smtClean="0"/>
          </a:p>
          <a:p>
            <a:pPr marL="0" indent="0">
              <a:buNone/>
            </a:pPr>
            <a:r>
              <a:rPr lang="en-IN" sz="2300" dirty="0" smtClean="0"/>
              <a:t>&lt;h2&gt;Register&lt;/h2&gt;</a:t>
            </a:r>
          </a:p>
          <a:p>
            <a:pPr marL="0" indent="0">
              <a:buNone/>
            </a:pPr>
            <a:r>
              <a:rPr lang="en-IN" sz="2300" dirty="0" smtClean="0"/>
              <a:t>&lt;form </a:t>
            </a:r>
            <a:r>
              <a:rPr lang="en-IN" sz="2300" dirty="0" err="1" smtClean="0"/>
              <a:t>onsubmit</a:t>
            </a:r>
            <a:r>
              <a:rPr lang="en-IN" sz="2300" dirty="0" smtClean="0"/>
              <a:t>="</a:t>
            </a:r>
            <a:r>
              <a:rPr lang="en-IN" sz="2300" dirty="0" err="1" smtClean="0"/>
              <a:t>registerUser</a:t>
            </a:r>
            <a:r>
              <a:rPr lang="en-IN" sz="2300" dirty="0" smtClean="0"/>
              <a:t>(event)"&gt;</a:t>
            </a:r>
          </a:p>
          <a:p>
            <a:pPr marL="0" indent="0">
              <a:buNone/>
            </a:pPr>
            <a:r>
              <a:rPr lang="en-IN" sz="2300" dirty="0" smtClean="0"/>
              <a:t>    &lt;input type="text" placeholder="Username"&gt;&lt;</a:t>
            </a:r>
            <a:r>
              <a:rPr lang="en-IN" sz="2300" dirty="0" err="1" smtClean="0"/>
              <a:t>br</a:t>
            </a:r>
            <a:r>
              <a:rPr lang="en-IN" sz="2300" dirty="0" smtClean="0"/>
              <a:t>&gt;&lt;</a:t>
            </a:r>
            <a:r>
              <a:rPr lang="en-IN" sz="2300" dirty="0" err="1" smtClean="0"/>
              <a:t>br</a:t>
            </a:r>
            <a:r>
              <a:rPr lang="en-IN" sz="2300" dirty="0" smtClean="0"/>
              <a:t>&gt;</a:t>
            </a:r>
          </a:p>
          <a:p>
            <a:pPr marL="0" indent="0">
              <a:buNone/>
            </a:pPr>
            <a:r>
              <a:rPr lang="en-IN" sz="2300" dirty="0" smtClean="0"/>
              <a:t>    &lt;input type="password" placeholder="Password"&gt;&lt;</a:t>
            </a:r>
            <a:r>
              <a:rPr lang="en-IN" sz="2300" dirty="0" err="1" smtClean="0"/>
              <a:t>br</a:t>
            </a:r>
            <a:r>
              <a:rPr lang="en-IN" sz="2300" dirty="0" smtClean="0"/>
              <a:t>&gt;&lt;</a:t>
            </a:r>
            <a:r>
              <a:rPr lang="en-IN" sz="2300" dirty="0" err="1" smtClean="0"/>
              <a:t>br</a:t>
            </a:r>
            <a:r>
              <a:rPr lang="en-IN" sz="2300" dirty="0" smtClean="0"/>
              <a:t>&gt;</a:t>
            </a:r>
          </a:p>
          <a:p>
            <a:pPr marL="0" indent="0">
              <a:buNone/>
            </a:pPr>
            <a:r>
              <a:rPr lang="en-IN" sz="2300" dirty="0" smtClean="0"/>
              <a:t>    &lt;button type="submit"&gt;Register&lt;/button&gt;</a:t>
            </a:r>
          </a:p>
          <a:p>
            <a:pPr marL="0" indent="0">
              <a:buNone/>
            </a:pPr>
            <a:endParaRPr lang="en-IN" dirty="0" smtClean="0"/>
          </a:p>
        </p:txBody>
      </p:sp>
      <p:sp>
        <p:nvSpPr>
          <p:cNvPr id="4" name="Rectangle 1"/>
          <p:cNvSpPr>
            <a:spLocks noGrp="1" noChangeArrowheads="1"/>
          </p:cNvSpPr>
          <p:nvPr>
            <p:ph type="title"/>
          </p:nvPr>
        </p:nvSpPr>
        <p:spPr bwMode="auto">
          <a:xfrm>
            <a:off x="933450" y="830024"/>
            <a:ext cx="279275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REGISTER.HTML</a:t>
            </a:r>
            <a:b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8415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625" y="1825625"/>
            <a:ext cx="10925175" cy="4351338"/>
          </a:xfrm>
        </p:spPr>
        <p:txBody>
          <a:bodyPr>
            <a:normAutofit/>
          </a:bodyPr>
          <a:lstStyle/>
          <a:p>
            <a:pPr marL="0" indent="0">
              <a:buNone/>
            </a:pPr>
            <a:r>
              <a:rPr lang="en-IN" sz="1800" dirty="0" smtClean="0"/>
              <a:t>&lt;/form&gt;</a:t>
            </a:r>
          </a:p>
          <a:p>
            <a:pPr marL="0" indent="0">
              <a:buNone/>
            </a:pPr>
            <a:endParaRPr lang="en-IN" sz="1800" dirty="0" smtClean="0"/>
          </a:p>
          <a:p>
            <a:pPr marL="0" indent="0">
              <a:buNone/>
            </a:pPr>
            <a:r>
              <a:rPr lang="en-IN" sz="1800" dirty="0" smtClean="0"/>
              <a:t>&lt;script&gt;</a:t>
            </a:r>
          </a:p>
          <a:p>
            <a:pPr marL="0" indent="0">
              <a:buNone/>
            </a:pPr>
            <a:r>
              <a:rPr lang="en-IN" sz="1800" dirty="0" smtClean="0"/>
              <a:t>function </a:t>
            </a:r>
            <a:r>
              <a:rPr lang="en-IN" sz="1800" dirty="0" err="1" smtClean="0"/>
              <a:t>registerUser</a:t>
            </a:r>
            <a:r>
              <a:rPr lang="en-IN" sz="1800" dirty="0" smtClean="0"/>
              <a:t>(e) {</a:t>
            </a:r>
          </a:p>
          <a:p>
            <a:pPr marL="0" indent="0">
              <a:buNone/>
            </a:pPr>
            <a:r>
              <a:rPr lang="en-IN" sz="1800" dirty="0" smtClean="0"/>
              <a:t>    </a:t>
            </a:r>
            <a:r>
              <a:rPr lang="en-IN" sz="1800" dirty="0" err="1" smtClean="0"/>
              <a:t>e.preventDefault</a:t>
            </a:r>
            <a:r>
              <a:rPr lang="en-IN" sz="1800" dirty="0" smtClean="0"/>
              <a:t>();</a:t>
            </a:r>
          </a:p>
          <a:p>
            <a:pPr marL="0" indent="0">
              <a:buNone/>
            </a:pPr>
            <a:r>
              <a:rPr lang="en-IN" sz="1800" dirty="0" smtClean="0"/>
              <a:t>    alert("Registered Successfully");</a:t>
            </a:r>
          </a:p>
          <a:p>
            <a:pPr marL="0" indent="0">
              <a:buNone/>
            </a:pPr>
            <a:r>
              <a:rPr lang="en-IN" sz="1800" dirty="0" smtClean="0"/>
              <a:t>}</a:t>
            </a:r>
          </a:p>
          <a:p>
            <a:pPr marL="0" indent="0">
              <a:buNone/>
            </a:pPr>
            <a:r>
              <a:rPr lang="en-IN" sz="1800" dirty="0" smtClean="0"/>
              <a:t>&lt;/script&gt;</a:t>
            </a:r>
          </a:p>
          <a:p>
            <a:pPr marL="0" indent="0">
              <a:buNone/>
            </a:pPr>
            <a:endParaRPr lang="en-IN" sz="1800" dirty="0" smtClean="0"/>
          </a:p>
          <a:p>
            <a:pPr marL="0" indent="0">
              <a:buNone/>
            </a:pPr>
            <a:r>
              <a:rPr lang="en-IN" sz="1800" dirty="0" smtClean="0"/>
              <a:t>&lt;/body&gt;</a:t>
            </a:r>
          </a:p>
          <a:p>
            <a:pPr marL="0" indent="0">
              <a:buNone/>
            </a:pPr>
            <a:r>
              <a:rPr lang="en-IN" sz="1800" dirty="0" smtClean="0"/>
              <a:t>&lt;/html&gt;</a:t>
            </a:r>
            <a:endParaRPr lang="en-IN" sz="1800" dirty="0"/>
          </a:p>
        </p:txBody>
      </p:sp>
      <p:sp>
        <p:nvSpPr>
          <p:cNvPr id="4" name="Rectangle 3"/>
          <p:cNvSpPr/>
          <p:nvPr/>
        </p:nvSpPr>
        <p:spPr>
          <a:xfrm>
            <a:off x="3048000" y="1859340"/>
            <a:ext cx="6096000" cy="369332"/>
          </a:xfrm>
          <a:prstGeom prst="rect">
            <a:avLst/>
          </a:prstGeom>
        </p:spPr>
        <p:txBody>
          <a:bodyPr>
            <a:spAutoFit/>
          </a:bodyPr>
          <a:lstStyle/>
          <a:p>
            <a:r>
              <a:rPr lang="en-IN" dirty="0" smtClean="0"/>
              <a:t> </a:t>
            </a:r>
            <a:endParaRPr lang="en-IN" dirty="0"/>
          </a:p>
        </p:txBody>
      </p:sp>
    </p:spTree>
    <p:extLst>
      <p:ext uri="{BB962C8B-B14F-4D97-AF65-F5344CB8AC3E}">
        <p14:creationId xmlns:p14="http://schemas.microsoft.com/office/powerpoint/2010/main" val="1740226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smtClean="0"/>
              <a:t>Backend (Node.js)</a:t>
            </a:r>
            <a:br>
              <a:rPr lang="en-IN" sz="2400" b="1" dirty="0" smtClean="0"/>
            </a:br>
            <a:r>
              <a:rPr lang="en-IN" sz="2400" b="1" dirty="0" smtClean="0"/>
              <a:t>server.js</a:t>
            </a:r>
            <a:endParaRPr lang="en-IN" sz="2400" b="1" dirty="0"/>
          </a:p>
        </p:txBody>
      </p:sp>
      <p:sp>
        <p:nvSpPr>
          <p:cNvPr id="3" name="Content Placeholder 2"/>
          <p:cNvSpPr>
            <a:spLocks noGrp="1"/>
          </p:cNvSpPr>
          <p:nvPr>
            <p:ph idx="1"/>
          </p:nvPr>
        </p:nvSpPr>
        <p:spPr/>
        <p:txBody>
          <a:bodyPr>
            <a:normAutofit fontScale="40000" lnSpcReduction="20000"/>
          </a:bodyPr>
          <a:lstStyle/>
          <a:p>
            <a:pPr marL="0" indent="0">
              <a:buNone/>
            </a:pPr>
            <a:r>
              <a:rPr lang="en-IN" sz="3800" dirty="0" err="1" smtClean="0"/>
              <a:t>const</a:t>
            </a:r>
            <a:r>
              <a:rPr lang="en-IN" sz="3800" dirty="0" smtClean="0"/>
              <a:t> express = require('express');</a:t>
            </a:r>
          </a:p>
          <a:p>
            <a:pPr marL="0" indent="0">
              <a:buNone/>
            </a:pPr>
            <a:r>
              <a:rPr lang="en-IN" sz="3800" dirty="0" err="1" smtClean="0"/>
              <a:t>const</a:t>
            </a:r>
            <a:r>
              <a:rPr lang="en-IN" sz="3800" dirty="0" smtClean="0"/>
              <a:t> app = express();</a:t>
            </a:r>
          </a:p>
          <a:p>
            <a:pPr marL="0" indent="0">
              <a:buNone/>
            </a:pPr>
            <a:r>
              <a:rPr lang="en-IN" sz="3800" dirty="0" err="1" smtClean="0"/>
              <a:t>const</a:t>
            </a:r>
            <a:r>
              <a:rPr lang="en-IN" sz="3800" dirty="0" smtClean="0"/>
              <a:t> </a:t>
            </a:r>
            <a:r>
              <a:rPr lang="en-IN" sz="3800" dirty="0" err="1" smtClean="0"/>
              <a:t>bodyParser</a:t>
            </a:r>
            <a:r>
              <a:rPr lang="en-IN" sz="3800" dirty="0" smtClean="0"/>
              <a:t> = require('body-parser');</a:t>
            </a:r>
          </a:p>
          <a:p>
            <a:pPr marL="0" indent="0">
              <a:buNone/>
            </a:pPr>
            <a:endParaRPr lang="en-IN" sz="3800" dirty="0" smtClean="0"/>
          </a:p>
          <a:p>
            <a:pPr marL="0" indent="0">
              <a:buNone/>
            </a:pPr>
            <a:r>
              <a:rPr lang="en-IN" sz="3800" dirty="0" err="1" smtClean="0"/>
              <a:t>app.use</a:t>
            </a:r>
            <a:r>
              <a:rPr lang="en-IN" sz="3800" dirty="0" smtClean="0"/>
              <a:t>(</a:t>
            </a:r>
            <a:r>
              <a:rPr lang="en-IN" sz="3800" dirty="0" err="1" smtClean="0"/>
              <a:t>bodyParser.json</a:t>
            </a:r>
            <a:r>
              <a:rPr lang="en-IN" sz="3800" dirty="0" smtClean="0"/>
              <a:t>());</a:t>
            </a:r>
          </a:p>
          <a:p>
            <a:pPr marL="0" indent="0">
              <a:buNone/>
            </a:pPr>
            <a:endParaRPr lang="en-IN" sz="3800" dirty="0" smtClean="0"/>
          </a:p>
          <a:p>
            <a:pPr marL="0" indent="0">
              <a:buNone/>
            </a:pPr>
            <a:r>
              <a:rPr lang="en-IN" sz="3800" dirty="0" smtClean="0"/>
              <a:t>let orders = [];</a:t>
            </a:r>
          </a:p>
          <a:p>
            <a:pPr marL="0" indent="0">
              <a:buNone/>
            </a:pPr>
            <a:endParaRPr lang="en-IN" sz="3800" dirty="0" smtClean="0"/>
          </a:p>
          <a:p>
            <a:pPr marL="0" indent="0">
              <a:buNone/>
            </a:pPr>
            <a:r>
              <a:rPr lang="en-IN" sz="3800" dirty="0" smtClean="0"/>
              <a:t>// API to place order</a:t>
            </a:r>
          </a:p>
          <a:p>
            <a:pPr marL="0" indent="0">
              <a:buNone/>
            </a:pPr>
            <a:r>
              <a:rPr lang="en-IN" sz="3800" dirty="0" err="1" smtClean="0"/>
              <a:t>app.post</a:t>
            </a:r>
            <a:r>
              <a:rPr lang="en-IN" sz="3800" dirty="0" smtClean="0"/>
              <a:t>('/order', (</a:t>
            </a:r>
            <a:r>
              <a:rPr lang="en-IN" sz="3800" dirty="0" err="1" smtClean="0"/>
              <a:t>req</a:t>
            </a:r>
            <a:r>
              <a:rPr lang="en-IN" sz="3800" dirty="0" smtClean="0"/>
              <a:t>, res) =&gt; {</a:t>
            </a:r>
          </a:p>
          <a:p>
            <a:pPr marL="0" indent="0">
              <a:buNone/>
            </a:pPr>
            <a:r>
              <a:rPr lang="en-IN" sz="3800" dirty="0" smtClean="0"/>
              <a:t>    </a:t>
            </a:r>
            <a:r>
              <a:rPr lang="en-IN" sz="3800" dirty="0" err="1" smtClean="0"/>
              <a:t>const</a:t>
            </a:r>
            <a:r>
              <a:rPr lang="en-IN" sz="3800" dirty="0" smtClean="0"/>
              <a:t> order = </a:t>
            </a:r>
            <a:r>
              <a:rPr lang="en-IN" sz="3800" dirty="0" err="1" smtClean="0"/>
              <a:t>req.body</a:t>
            </a:r>
            <a:r>
              <a:rPr lang="en-IN" sz="3800" dirty="0" smtClean="0"/>
              <a:t>;</a:t>
            </a:r>
          </a:p>
          <a:p>
            <a:pPr marL="0" indent="0">
              <a:buNone/>
            </a:pPr>
            <a:r>
              <a:rPr lang="en-IN" sz="3800" dirty="0" smtClean="0"/>
              <a:t>    </a:t>
            </a:r>
            <a:r>
              <a:rPr lang="en-IN" sz="3800" dirty="0" err="1" smtClean="0"/>
              <a:t>orders.push</a:t>
            </a:r>
            <a:r>
              <a:rPr lang="en-IN" sz="3800" dirty="0" smtClean="0"/>
              <a:t>(order);</a:t>
            </a:r>
          </a:p>
          <a:p>
            <a:pPr marL="0" indent="0">
              <a:buNone/>
            </a:pPr>
            <a:r>
              <a:rPr lang="en-IN" sz="3800" dirty="0" smtClean="0"/>
              <a:t>    </a:t>
            </a:r>
            <a:r>
              <a:rPr lang="en-IN" sz="3800" dirty="0" err="1" smtClean="0"/>
              <a:t>res.send</a:t>
            </a:r>
            <a:r>
              <a:rPr lang="en-IN" sz="3800" dirty="0" smtClean="0"/>
              <a:t>("Order placed successfully");</a:t>
            </a:r>
          </a:p>
          <a:p>
            <a:pPr marL="0" indent="0">
              <a:buNone/>
            </a:pPr>
            <a:r>
              <a:rPr lang="en-IN" sz="3800" dirty="0" smtClean="0"/>
              <a:t>});</a:t>
            </a:r>
          </a:p>
          <a:p>
            <a:pPr marL="0" indent="0">
              <a:buNone/>
            </a:pPr>
            <a:r>
              <a:rPr lang="en-IN" dirty="0" smtClean="0"/>
              <a:t> </a:t>
            </a:r>
            <a:endParaRPr lang="en-IN" dirty="0"/>
          </a:p>
        </p:txBody>
      </p:sp>
    </p:spTree>
    <p:extLst>
      <p:ext uri="{BB962C8B-B14F-4D97-AF65-F5344CB8AC3E}">
        <p14:creationId xmlns:p14="http://schemas.microsoft.com/office/powerpoint/2010/main" val="1420209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IN" sz="1400" dirty="0" smtClean="0"/>
              <a:t>// API to get orders</a:t>
            </a:r>
          </a:p>
          <a:p>
            <a:pPr marL="0" indent="0">
              <a:buNone/>
            </a:pPr>
            <a:r>
              <a:rPr lang="en-IN" sz="1400" dirty="0" err="1" smtClean="0"/>
              <a:t>app.get</a:t>
            </a:r>
            <a:r>
              <a:rPr lang="en-IN" sz="1400" dirty="0" smtClean="0"/>
              <a:t>('/orders', (</a:t>
            </a:r>
            <a:r>
              <a:rPr lang="en-IN" sz="1400" dirty="0" err="1" smtClean="0"/>
              <a:t>req</a:t>
            </a:r>
            <a:r>
              <a:rPr lang="en-IN" sz="1400" dirty="0" smtClean="0"/>
              <a:t>, res) =&gt; {</a:t>
            </a:r>
          </a:p>
          <a:p>
            <a:pPr marL="0" indent="0">
              <a:buNone/>
            </a:pPr>
            <a:r>
              <a:rPr lang="en-IN" sz="1400" dirty="0" smtClean="0"/>
              <a:t>    </a:t>
            </a:r>
            <a:r>
              <a:rPr lang="en-IN" sz="1400" dirty="0" err="1" smtClean="0"/>
              <a:t>res.json</a:t>
            </a:r>
            <a:r>
              <a:rPr lang="en-IN" sz="1400" dirty="0" smtClean="0"/>
              <a:t>(orders);</a:t>
            </a:r>
          </a:p>
          <a:p>
            <a:pPr marL="0" indent="0">
              <a:buNone/>
            </a:pPr>
            <a:r>
              <a:rPr lang="en-IN" sz="1400" dirty="0" smtClean="0"/>
              <a:t>});</a:t>
            </a:r>
          </a:p>
          <a:p>
            <a:pPr marL="0" indent="0">
              <a:buNone/>
            </a:pPr>
            <a:endParaRPr lang="en-IN" sz="1400" dirty="0" smtClean="0"/>
          </a:p>
          <a:p>
            <a:pPr marL="0" indent="0">
              <a:buNone/>
            </a:pPr>
            <a:r>
              <a:rPr lang="en-IN" sz="1400" dirty="0" err="1" smtClean="0"/>
              <a:t>app.listen</a:t>
            </a:r>
            <a:r>
              <a:rPr lang="en-IN" sz="1400" dirty="0" smtClean="0"/>
              <a:t>(3000, () =&gt; {</a:t>
            </a:r>
          </a:p>
          <a:p>
            <a:pPr marL="0" indent="0">
              <a:buNone/>
            </a:pPr>
            <a:r>
              <a:rPr lang="en-IN" sz="1400" dirty="0" smtClean="0"/>
              <a:t>    console.log("Server running on port 3000");</a:t>
            </a:r>
          </a:p>
          <a:p>
            <a:pPr marL="0" indent="0">
              <a:buNone/>
            </a:pPr>
            <a:r>
              <a:rPr lang="en-IN" sz="1400" dirty="0" smtClean="0"/>
              <a:t>});</a:t>
            </a:r>
            <a:endParaRPr lang="en-IN" sz="1400" dirty="0"/>
          </a:p>
        </p:txBody>
      </p:sp>
    </p:spTree>
    <p:extLst>
      <p:ext uri="{BB962C8B-B14F-4D97-AF65-F5344CB8AC3E}">
        <p14:creationId xmlns:p14="http://schemas.microsoft.com/office/powerpoint/2010/main" val="2634435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smtClean="0"/>
              <a:t>DATABASE (MYSQL)</a:t>
            </a:r>
            <a:r>
              <a:rPr lang="en-IN" sz="2400" dirty="0" smtClean="0"/>
              <a:t> </a:t>
            </a:r>
            <a:br>
              <a:rPr lang="en-IN" sz="2400" dirty="0" smtClean="0"/>
            </a:br>
            <a:r>
              <a:rPr lang="en-IN" sz="2400" dirty="0" smtClean="0"/>
              <a:t> </a:t>
            </a:r>
            <a:r>
              <a:rPr lang="en-IN" sz="2400" dirty="0" err="1" smtClean="0"/>
              <a:t>db.sql</a:t>
            </a:r>
            <a:endParaRPr lang="en-IN" sz="2400" b="1" dirty="0"/>
          </a:p>
        </p:txBody>
      </p:sp>
      <p:sp>
        <p:nvSpPr>
          <p:cNvPr id="3" name="Content Placeholder 2"/>
          <p:cNvSpPr>
            <a:spLocks noGrp="1"/>
          </p:cNvSpPr>
          <p:nvPr>
            <p:ph idx="1"/>
          </p:nvPr>
        </p:nvSpPr>
        <p:spPr>
          <a:xfrm>
            <a:off x="838200" y="1690687"/>
            <a:ext cx="10515600" cy="4833937"/>
          </a:xfrm>
        </p:spPr>
        <p:txBody>
          <a:bodyPr>
            <a:noAutofit/>
          </a:bodyPr>
          <a:lstStyle/>
          <a:p>
            <a:pPr marL="0" indent="0">
              <a:buNone/>
            </a:pPr>
            <a:r>
              <a:rPr lang="en-IN" sz="1800" dirty="0" smtClean="0">
                <a:latin typeface="Times New Roman" panose="02020603050405020304" pitchFamily="18" charset="0"/>
                <a:cs typeface="Times New Roman" panose="02020603050405020304" pitchFamily="18" charset="0"/>
              </a:rPr>
              <a:t>CREATE DATABASE food delivery ;</a:t>
            </a:r>
          </a:p>
          <a:p>
            <a:pPr marL="0" indent="0">
              <a:buNone/>
            </a:pPr>
            <a:r>
              <a:rPr lang="en-IN" sz="1800" dirty="0" smtClean="0">
                <a:latin typeface="Times New Roman" panose="02020603050405020304" pitchFamily="18" charset="0"/>
                <a:cs typeface="Times New Roman" panose="02020603050405020304" pitchFamily="18" charset="0"/>
              </a:rPr>
              <a:t>USE food delivery ;</a:t>
            </a:r>
          </a:p>
          <a:p>
            <a:pPr marL="0" indent="0">
              <a:buNone/>
            </a:pPr>
            <a:r>
              <a:rPr lang="en-IN" sz="1800" dirty="0" smtClean="0">
                <a:latin typeface="Times New Roman" panose="02020603050405020304" pitchFamily="18" charset="0"/>
                <a:cs typeface="Times New Roman" panose="02020603050405020304" pitchFamily="18" charset="0"/>
              </a:rPr>
              <a:t>CREATE TABLE users (</a:t>
            </a:r>
          </a:p>
          <a:p>
            <a:pPr marL="0" indent="0">
              <a:buNone/>
            </a:pPr>
            <a:r>
              <a:rPr lang="en-IN" sz="1800" dirty="0" smtClean="0">
                <a:latin typeface="Times New Roman" panose="02020603050405020304" pitchFamily="18" charset="0"/>
                <a:cs typeface="Times New Roman" panose="02020603050405020304" pitchFamily="18" charset="0"/>
              </a:rPr>
              <a:t>    id INT AUTO_INCREMENT PRIMARY KEY,</a:t>
            </a:r>
          </a:p>
          <a:p>
            <a:pPr marL="0" indent="0">
              <a:buNone/>
            </a:pPr>
            <a:r>
              <a:rPr lang="en-IN" sz="1800" dirty="0" smtClean="0">
                <a:latin typeface="Times New Roman" panose="02020603050405020304" pitchFamily="18" charset="0"/>
                <a:cs typeface="Times New Roman" panose="02020603050405020304" pitchFamily="18" charset="0"/>
              </a:rPr>
              <a:t>    username VARCHAR(50),</a:t>
            </a:r>
          </a:p>
          <a:p>
            <a:pPr marL="0" indent="0">
              <a:buNone/>
            </a:pPr>
            <a:r>
              <a:rPr lang="en-IN" sz="1800" dirty="0" smtClean="0">
                <a:latin typeface="Times New Roman" panose="02020603050405020304" pitchFamily="18" charset="0"/>
                <a:cs typeface="Times New Roman" panose="02020603050405020304" pitchFamily="18" charset="0"/>
              </a:rPr>
              <a:t>    password VARCHAR(50)</a:t>
            </a:r>
          </a:p>
          <a:p>
            <a:pPr marL="0" indent="0">
              <a:buNone/>
            </a:pPr>
            <a:r>
              <a:rPr lang="en-IN" sz="1800" dirty="0" smtClean="0">
                <a:latin typeface="Times New Roman" panose="02020603050405020304" pitchFamily="18" charset="0"/>
                <a:cs typeface="Times New Roman" panose="02020603050405020304" pitchFamily="18" charset="0"/>
              </a:rPr>
              <a:t>);</a:t>
            </a:r>
          </a:p>
          <a:p>
            <a:pPr marL="0" indent="0">
              <a:buNone/>
            </a:pPr>
            <a:endParaRPr lang="en-IN" sz="1800" dirty="0" smtClean="0">
              <a:latin typeface="Times New Roman" panose="02020603050405020304" pitchFamily="18" charset="0"/>
              <a:cs typeface="Times New Roman" panose="02020603050405020304" pitchFamily="18" charset="0"/>
            </a:endParaRPr>
          </a:p>
          <a:p>
            <a:pPr marL="0" indent="0">
              <a:buNone/>
            </a:pPr>
            <a:r>
              <a:rPr lang="en-IN" sz="1800" dirty="0" smtClean="0">
                <a:latin typeface="Times New Roman" panose="02020603050405020304" pitchFamily="18" charset="0"/>
                <a:cs typeface="Times New Roman" panose="02020603050405020304" pitchFamily="18" charset="0"/>
              </a:rPr>
              <a:t>CREATE TABLE orders (</a:t>
            </a:r>
          </a:p>
          <a:p>
            <a:pPr marL="0" indent="0">
              <a:buNone/>
            </a:pPr>
            <a:r>
              <a:rPr lang="en-IN" sz="1800" dirty="0" smtClean="0">
                <a:latin typeface="Times New Roman" panose="02020603050405020304" pitchFamily="18" charset="0"/>
                <a:cs typeface="Times New Roman" panose="02020603050405020304" pitchFamily="18" charset="0"/>
              </a:rPr>
              <a:t>    id INT AUTO_INCREMENT PRIMARY KEY,</a:t>
            </a:r>
          </a:p>
          <a:p>
            <a:pPr marL="0" indent="0">
              <a:buNone/>
            </a:pPr>
            <a:r>
              <a:rPr lang="en-IN" sz="1800" dirty="0" smtClean="0">
                <a:latin typeface="Times New Roman" panose="02020603050405020304" pitchFamily="18" charset="0"/>
                <a:cs typeface="Times New Roman" panose="02020603050405020304" pitchFamily="18" charset="0"/>
              </a:rPr>
              <a:t>    item VARCHAR(100),</a:t>
            </a:r>
          </a:p>
          <a:p>
            <a:pPr marL="0" indent="0">
              <a:buNone/>
            </a:pPr>
            <a:r>
              <a:rPr lang="en-IN" sz="1800" dirty="0" smtClean="0">
                <a:latin typeface="Times New Roman" panose="02020603050405020304" pitchFamily="18" charset="0"/>
                <a:cs typeface="Times New Roman" panose="02020603050405020304" pitchFamily="18" charset="0"/>
              </a:rPr>
              <a:t>    user id INT</a:t>
            </a:r>
          </a:p>
          <a:p>
            <a:pPr marL="0" indent="0">
              <a:buNone/>
            </a:pPr>
            <a:r>
              <a:rPr lang="en-IN"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1848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425" y="365125"/>
            <a:ext cx="10620375" cy="1325563"/>
          </a:xfrm>
        </p:spPr>
        <p:txBody>
          <a:bodyPr>
            <a:normAutofit/>
          </a:bodyPr>
          <a:lstStyle/>
          <a:p>
            <a:r>
              <a:rPr lang="en-IN" sz="2400" b="1" dirty="0" smtClean="0">
                <a:latin typeface="Times New Roman" panose="02020603050405020304" pitchFamily="18" charset="0"/>
                <a:cs typeface="Times New Roman" panose="02020603050405020304" pitchFamily="18" charset="0"/>
              </a:rPr>
              <a:t>CONCLUSION</a:t>
            </a:r>
            <a:endParaRPr lang="en-IN" sz="2400"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733425" y="1027906"/>
            <a:ext cx="2915036" cy="1210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System improves efficiency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Easy to 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Scalable for future</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008002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1204</Words>
  <Application>Microsoft Office PowerPoint</Application>
  <PresentationFormat>Widescreen</PresentationFormat>
  <Paragraphs>290</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Times New Roman</vt:lpstr>
      <vt:lpstr>Office Theme</vt:lpstr>
      <vt:lpstr> REAL TIME PROJECT</vt:lpstr>
      <vt:lpstr>PROJECT TILTEL: ONLINE FOOD DELIVERY SYSTEM </vt:lpstr>
      <vt:lpstr>INTRODUCTION</vt:lpstr>
      <vt:lpstr>PROBLEM STATEMENT</vt:lpstr>
      <vt:lpstr>OBJECTIVES</vt:lpstr>
      <vt:lpstr>EXISTING SYSTEM </vt:lpstr>
      <vt:lpstr>PROPOSED SYSTEM</vt:lpstr>
      <vt:lpstr>METHODOLOGY</vt:lpstr>
      <vt:lpstr>SYSTEM ARCHITECTURE</vt:lpstr>
      <vt:lpstr>PowerPoint Presentation</vt:lpstr>
      <vt:lpstr>PowerPoint Presentation</vt:lpstr>
      <vt:lpstr>DATA FLOW DIAGRAM (DFD - LEVEL 0)</vt:lpstr>
      <vt:lpstr>PowerPoint Presentation</vt:lpstr>
      <vt:lpstr> TOOLS &amp; TECHNOLOGIES</vt:lpstr>
      <vt:lpstr>WORK PLAN / TIMELINE</vt:lpstr>
      <vt:lpstr>EXPECTED OUTCOMES</vt:lpstr>
      <vt:lpstr>CURRENT PROGRESS</vt:lpstr>
      <vt:lpstr>CHALLENGES</vt:lpstr>
      <vt:lpstr>PROJECT STRUCTURE</vt:lpstr>
      <vt:lpstr>FRONTEND CODE</vt:lpstr>
      <vt:lpstr>PowerPoint Presentation</vt:lpstr>
      <vt:lpstr>STYLE.CSS CSS</vt:lpstr>
      <vt:lpstr>PowerPoint Presentation</vt:lpstr>
      <vt:lpstr>SCRIPT.JS</vt:lpstr>
      <vt:lpstr>LOGIN &amp; REGISTER login.html</vt:lpstr>
      <vt:lpstr>PowerPoint Presentation</vt:lpstr>
      <vt:lpstr>REGISTER.HTML </vt:lpstr>
      <vt:lpstr>PowerPoint Presentation</vt:lpstr>
      <vt:lpstr>Backend (Node.js) server.js</vt:lpstr>
      <vt:lpstr>PowerPoint Presentation</vt:lpstr>
      <vt:lpstr>DATABASE (MYSQL)   db.sql</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REAL TIME PROJECT</dc:title>
  <dc:creator>Dell</dc:creator>
  <cp:lastModifiedBy>Dell</cp:lastModifiedBy>
  <cp:revision>27</cp:revision>
  <dcterms:created xsi:type="dcterms:W3CDTF">2026-03-27T11:55:32Z</dcterms:created>
  <dcterms:modified xsi:type="dcterms:W3CDTF">2026-03-28T02:41:38Z</dcterms:modified>
</cp:coreProperties>
</file>